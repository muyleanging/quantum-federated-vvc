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tif" ContentType="image/tif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860" r:id="rId3"/>
    <p:sldId id="906" r:id="rId4"/>
    <p:sldId id="907" r:id="rId5"/>
    <p:sldId id="908" r:id="rId6"/>
    <p:sldId id="913" r:id="rId16"/>
    <p:sldId id="914" r:id="rId17"/>
    <p:sldId id="911" r:id="rId8"/>
    <p:sldId id="912" r:id="rId9"/>
    <p:sldId id="258" r:id="rId1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1pPr>
    <a:lvl2pPr marL="0" marR="0" indent="3429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2pPr>
    <a:lvl3pPr marL="0" marR="0" indent="685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3pPr>
    <a:lvl4pPr marL="0" marR="0" indent="10287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4pPr>
    <a:lvl5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5pPr>
    <a:lvl6pPr marL="0" marR="0" indent="17145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6pPr>
    <a:lvl7pPr marL="0" marR="0" indent="2057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7pPr>
    <a:lvl8pPr marL="0" marR="0" indent="24003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8pPr>
    <a:lvl9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>
        <a:srgbClr val="000000"/>
      </a:buClr>
      <a:buSzTx/>
      <a:buFont typeface="Helvetica"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>
          <a:solidFill>
            <a:srgbClr val="000000"/>
          </a:solidFill>
        </a:u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923D"/>
    <a:srgbClr val="97BECD"/>
    <a:srgbClr val="237378"/>
    <a:srgbClr val="D4D14E"/>
    <a:srgbClr val="DEDB51"/>
    <a:srgbClr val="BEBC4A"/>
    <a:srgbClr val="E9E559"/>
    <a:srgbClr val="84A7B7"/>
    <a:srgbClr val="ACD7E7"/>
    <a:srgbClr val="0E6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D5D4"/>
          </a:solidFill>
        </a:fill>
      </a:tcStyle>
    </a:wholeTbl>
    <a:band2H>
      <a:tcTxStyle/>
      <a:tcStyle>
        <a:tcBdr/>
        <a:fill>
          <a:solidFill>
            <a:srgbClr val="F9ECEB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BE190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BE190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BE1900"/>
          </a:solidFill>
        </a:fill>
      </a:tcStyle>
    </a:firstRow>
  </a:tblStyle>
  <a:tblStyle styleId="{C7B018BB-80A7-4F77-B60F-C8B233D01FF8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Apple SD 산돌고딕 Neo 옅은체"/>
          <a:ea typeface="Apple SD 산돌고딕 Neo 옅은체"/>
          <a:cs typeface="Apple SD 산돌고딕 Neo 옅은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52"/>
    <p:restoredTop sz="97642"/>
  </p:normalViewPr>
  <p:slideViewPr>
    <p:cSldViewPr snapToGrid="0" snapToObjects="1">
      <p:cViewPr varScale="1">
        <p:scale>
          <a:sx n="128" d="100"/>
          <a:sy n="128" d="100"/>
        </p:scale>
        <p:origin x="1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" name="Shape 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1pPr>
    <a:lvl2pPr indent="2286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2pPr>
    <a:lvl3pPr indent="4572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3pPr>
    <a:lvl4pPr indent="6858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4pPr>
    <a:lvl5pPr indent="9144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5pPr>
    <a:lvl6pPr indent="11430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6pPr>
    <a:lvl7pPr indent="13716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7pPr>
    <a:lvl8pPr indent="16002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8pPr>
    <a:lvl9pPr indent="1828800" latinLnBrk="0">
      <a:spcBef>
        <a:spcPts val="400"/>
      </a:spcBef>
      <a:defRPr sz="1200">
        <a:uFill>
          <a:solidFill>
            <a:srgbClr val="000000"/>
          </a:solidFill>
        </a:uFill>
        <a:latin typeface="Helvetica"/>
        <a:ea typeface="Helvetica"/>
        <a:cs typeface="Helvetica"/>
        <a:sym typeface="Helvetica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40659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FA4C-A8B1-8979-B757-E897D69B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F4DC6-4446-E4D8-CC1C-D01B232FA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0362E-9DA8-6F44-446A-7F2081C23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366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0754-01BD-5F47-AC4F-ADCE3053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E8B98-75F5-7A73-7590-CF35E2024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0A6A9-8D25-2E09-FF59-D93125BD8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1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0300-6DA2-7904-D9F8-52592D41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41637-71EB-04AC-D4D7-5A3AF7265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C12A84-AC88-7BC2-3E86-6A6F1519E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56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1BD6-F3DE-A185-508D-67BFDD61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A10EF-9988-CDA0-0774-09ECB7070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80066-3E54-CDD4-0B7D-BF9A4D8AD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708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5921242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- 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"/>
          <p:cNvSpPr/>
          <p:nvPr/>
        </p:nvSpPr>
        <p:spPr>
          <a:xfrm>
            <a:off x="152400" y="6200775"/>
            <a:ext cx="8839200" cy="1588"/>
          </a:xfrm>
          <a:prstGeom prst="line">
            <a:avLst/>
          </a:prstGeom>
          <a:ln w="28575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buClrTx/>
              <a:buFontTx/>
              <a:defRPr sz="1200">
                <a:uFillTx/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endParaRPr/>
          </a:p>
        </p:txBody>
      </p:sp>
      <p:pic>
        <p:nvPicPr>
          <p:cNvPr id="16" name="image6.jpg" descr="image6.jpg"/>
          <p:cNvPicPr>
            <a:picLocks noChangeAspect="1"/>
          </p:cNvPicPr>
          <p:nvPr/>
        </p:nvPicPr>
        <p:blipFill>
          <a:blip r:embed="rId2"/>
          <a:srcRect l="4156" t="15992" r="5753" b="81928"/>
          <a:stretch>
            <a:fillRect/>
          </a:stretch>
        </p:blipFill>
        <p:spPr>
          <a:xfrm>
            <a:off x="315714" y="3275874"/>
            <a:ext cx="8512478" cy="97947"/>
          </a:xfrm>
          <a:prstGeom prst="rect">
            <a:avLst/>
          </a:prstGeom>
          <a:ln w="12700"/>
        </p:spPr>
      </p:pic>
      <p:sp>
        <p:nvSpPr>
          <p:cNvPr id="17" name="마스터 텍스트 스타일을 편집합니다"/>
          <p:cNvSpPr txBox="1">
            <a:spLocks noGrp="1"/>
          </p:cNvSpPr>
          <p:nvPr>
            <p:ph type="body" sz="quarter" idx="21"/>
          </p:nvPr>
        </p:nvSpPr>
        <p:spPr>
          <a:xfrm>
            <a:off x="363269" y="3353009"/>
            <a:ext cx="8468262" cy="424539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r">
              <a:spcBef>
                <a:spcPts val="500"/>
              </a:spcBef>
              <a:buSzTx/>
              <a:buFont typeface="Helvetica"/>
              <a:buNone/>
              <a:defRPr sz="1700" b="0"/>
            </a:lvl1pPr>
          </a:lstStyle>
          <a:p>
            <a:pPr>
              <a:defRPr b="1"/>
            </a:pPr>
            <a:r>
              <a:rPr b="0"/>
              <a:t>마스터 텍스트 스타일을 편집합니다</a:t>
            </a:r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346228" y="1145116"/>
            <a:ext cx="8451544" cy="197808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90000"/>
              </a:lnSpc>
              <a:defRPr sz="3800">
                <a:uFill>
                  <a:solidFill>
                    <a:srgbClr val="654E04"/>
                  </a:solidFill>
                </a:uFill>
              </a:defRPr>
            </a:lvl1pPr>
          </a:lstStyle>
          <a:p>
            <a:r>
              <a:t>Title Text</a:t>
            </a:r>
          </a:p>
        </p:txBody>
      </p:sp>
      <p:pic>
        <p:nvPicPr>
          <p:cNvPr id="19" name="pknu.png" descr="pk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7" y="78233"/>
            <a:ext cx="1289980" cy="1176672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2984" y="6442075"/>
            <a:ext cx="283816" cy="274415"/>
          </a:xfrm>
          <a:prstGeom prst="rect">
            <a:avLst/>
          </a:prstGeom>
          <a:ln>
            <a:miter lim="400000"/>
          </a:ln>
        </p:spPr>
        <p:txBody>
          <a:bodyPr lIns="50800" tIns="50800" rIns="50800" bIns="50800"/>
          <a:lstStyle>
            <a:lvl1pPr>
              <a:defRPr b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1" name="QCL.png" descr="Q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487" y="118223"/>
            <a:ext cx="1389141" cy="5737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-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Aft>
                <a:spcPts val="150"/>
              </a:spcAft>
              <a:defRPr sz="2400"/>
            </a:lvl1pPr>
            <a:lvl2pPr>
              <a:lnSpc>
                <a:spcPct val="100000"/>
              </a:lnSpc>
              <a:spcAft>
                <a:spcPts val="150"/>
              </a:spcAft>
              <a:defRPr sz="2200"/>
            </a:lvl2pPr>
            <a:lvl3pPr>
              <a:lnSpc>
                <a:spcPct val="100000"/>
              </a:lnSpc>
              <a:spcAft>
                <a:spcPts val="150"/>
              </a:spcAft>
              <a:defRPr sz="2000"/>
            </a:lvl3pPr>
            <a:lvl4pPr>
              <a:lnSpc>
                <a:spcPct val="100000"/>
              </a:lnSpc>
              <a:spcAft>
                <a:spcPts val="150"/>
              </a:spcAft>
              <a:defRPr sz="2000"/>
            </a:lvl4pPr>
            <a:lvl5pPr>
              <a:lnSpc>
                <a:spcPct val="100000"/>
              </a:lnSpc>
              <a:spcAft>
                <a:spcPts val="150"/>
              </a:spcAft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11112" y="6324600"/>
            <a:ext cx="9145588" cy="234950"/>
          </a:xfrm>
          <a:prstGeom prst="rect">
            <a:avLst/>
          </a:prstGeom>
          <a:gradFill>
            <a:gsLst>
              <a:gs pos="0">
                <a:srgbClr val="EAEEF9"/>
              </a:gs>
              <a:gs pos="100000">
                <a:srgbClr val="FFFFFF"/>
              </a:gs>
            </a:gsLst>
            <a:lin ang="5400000"/>
          </a:gradFill>
          <a:ln>
            <a:miter lim="400000"/>
          </a:ln>
        </p:spPr>
        <p:txBody>
          <a:bodyPr lIns="38100" tIns="38100" rIns="38100" bIns="38100" anchor="ctr"/>
          <a:lstStyle/>
          <a:p>
            <a:pPr algn="ctr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http://hpcl.pknu.ac.kr"/>
          <p:cNvSpPr txBox="1"/>
          <p:nvPr/>
        </p:nvSpPr>
        <p:spPr>
          <a:xfrm>
            <a:off x="3431713" y="6445249"/>
            <a:ext cx="2229778" cy="292388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" tIns="38100" rIns="38100" bIns="38100">
            <a:spAutoFit/>
          </a:bodyPr>
          <a:lstStyle>
            <a:lvl1pPr algn="ctr" defTabSz="584200">
              <a:buClr>
                <a:srgbClr val="363636"/>
              </a:buClr>
              <a:defRPr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>
              <a:defRPr>
                <a:solidFill>
                  <a:srgbClr val="000000"/>
                </a:solidFill>
                <a:effectLst/>
                <a:uFillTx/>
              </a:defRPr>
            </a:pPr>
            <a:r>
              <a:rPr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</a:rPr>
              <a:t>http://</a:t>
            </a:r>
            <a:r>
              <a:rPr lang="en-US"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</a:rPr>
              <a:t>quantum</a:t>
            </a:r>
            <a:r>
              <a:rPr>
                <a:solidFill>
                  <a:srgbClr val="363636"/>
                </a:solidFill>
                <a:effectLst>
                  <a:outerShdw blurRad="50800" rotWithShape="0">
                    <a:srgbClr val="000000"/>
                  </a:outerShdw>
                </a:effectLst>
                <a:uFill>
                  <a:solidFill>
                    <a:srgbClr val="363636"/>
                  </a:solidFill>
                </a:uFill>
              </a:rPr>
              <a:t>.pknu.ac.kr</a:t>
            </a:r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368934" y="48192"/>
            <a:ext cx="6659683" cy="71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247967" y="894643"/>
            <a:ext cx="8671878" cy="53507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" tIns="38100" rIns="38100" bIns="38100">
            <a:normAutofit/>
          </a:bodyPr>
          <a:lstStyle>
            <a:lvl2pPr marL="742950" indent="-285750">
              <a:buSzPct val="110000"/>
              <a:buChar char="–"/>
              <a:defRPr sz="2400" b="0"/>
            </a:lvl2pPr>
            <a:lvl3pPr marL="1143000" indent="-228600">
              <a:buClr>
                <a:schemeClr val="accent5">
                  <a:hueOff val="-176146"/>
                  <a:satOff val="3665"/>
                  <a:lumOff val="-13986"/>
                </a:schemeClr>
              </a:buClr>
              <a:buChar char="▪"/>
              <a:defRPr sz="2200" b="0">
                <a:solidFill>
                  <a:schemeClr val="accent5">
                    <a:hueOff val="-176146"/>
                    <a:satOff val="3665"/>
                    <a:lumOff val="-13986"/>
                  </a:schemeClr>
                </a:solidFill>
              </a:defRPr>
            </a:lvl3pPr>
            <a:lvl4pPr marL="1600200" indent="-228600">
              <a:spcBef>
                <a:spcPts val="300"/>
              </a:spcBef>
              <a:defRPr sz="2000" b="0"/>
            </a:lvl4pPr>
            <a:lvl5pPr marL="2057400" indent="-228600">
              <a:spcBef>
                <a:spcPts val="300"/>
              </a:spcBef>
              <a:buChar char="»"/>
              <a:defRPr sz="1800" b="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33184" y="6476999"/>
            <a:ext cx="258417" cy="254001"/>
          </a:xfrm>
          <a:prstGeom prst="rect">
            <a:avLst/>
          </a:prstGeom>
          <a:ln w="12700"/>
        </p:spPr>
        <p:txBody>
          <a:bodyPr wrap="none" lIns="38100" tIns="38100" rIns="38100" bIns="38100">
            <a:spAutoFit/>
          </a:bodyPr>
          <a:lstStyle>
            <a:lvl1pPr algn="r">
              <a:buClrTx/>
              <a:buFontTx/>
              <a:defRPr sz="1200" b="1">
                <a:solidFill>
                  <a:srgbClr val="302900"/>
                </a:solidFill>
                <a:uFill>
                  <a:solidFill>
                    <a:srgbClr val="3029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" name="직선 연결선[R] 7"/>
          <p:cNvSpPr/>
          <p:nvPr/>
        </p:nvSpPr>
        <p:spPr>
          <a:xfrm>
            <a:off x="157281" y="778818"/>
            <a:ext cx="8829438" cy="1"/>
          </a:xfrm>
          <a:prstGeom prst="line">
            <a:avLst/>
          </a:prstGeom>
          <a:ln w="254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>
              <a:buClrTx/>
              <a:buFontTx/>
              <a:defRPr sz="1800">
                <a:uFillTx/>
                <a:latin typeface="맑은 고딕"/>
                <a:ea typeface="맑은 고딕"/>
                <a:cs typeface="맑은 고딕"/>
                <a:sym typeface="맑은 고딕"/>
              </a:defRPr>
            </a:pPr>
            <a:endParaRPr/>
          </a:p>
        </p:txBody>
      </p:sp>
      <p:pic>
        <p:nvPicPr>
          <p:cNvPr id="8" name="QCL.png" descr="Q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6487" y="118223"/>
            <a:ext cx="1389141" cy="573747"/>
          </a:xfrm>
          <a:prstGeom prst="rect">
            <a:avLst/>
          </a:prstGeom>
          <a:ln w="12700">
            <a:miter lim="4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 advClick="0"/>
  <p:txStyles>
    <p:titleStyle>
      <a:lvl1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1pPr>
      <a:lvl2pPr marL="0" marR="0" indent="2286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2pPr>
      <a:lvl3pPr marL="0" marR="0" indent="4572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3pPr>
      <a:lvl4pPr marL="0" marR="0" indent="6858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4pPr>
      <a:lvl5pPr marL="0" marR="0" indent="9144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5pPr>
      <a:lvl6pPr marL="0" marR="0" indent="11430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6pPr>
      <a:lvl7pPr marL="0" marR="0" indent="13716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7pPr>
      <a:lvl8pPr marL="0" marR="0" indent="16002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8pPr>
      <a:lvl9pPr marL="0" marR="0" indent="182880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effectLst>
            <a:outerShdw blurRad="38100" dist="38100" dir="2700000" rotWithShape="0">
              <a:srgbClr val="000000">
                <a:alpha val="43137"/>
              </a:srgbClr>
            </a:outerShdw>
          </a:effectLst>
          <a:uFill>
            <a:solidFill>
              <a:srgbClr val="FFFFFF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9pPr>
    </p:titleStyle>
    <p:bodyStyle>
      <a:lvl1pPr marL="285750" marR="0" indent="-2857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1pPr>
      <a:lvl2pPr marL="857250" marR="0" indent="-4000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2pPr>
      <a:lvl3pPr marL="1270000" marR="0" indent="-35560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3pPr>
      <a:lvl4pPr marL="1771650" marR="0" indent="-4000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4pPr>
      <a:lvl5pPr marL="2228850" marR="0" indent="-400050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5pPr>
      <a:lvl6pPr marL="34512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6pPr>
      <a:lvl7pPr marL="38068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7pPr>
      <a:lvl8pPr marL="41624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8pPr>
      <a:lvl9pPr marL="4518025" marR="0" indent="-1000125" algn="l" defTabSz="91440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ct val="171000"/>
        <a:buFontTx/>
        <a:buChar char="•"/>
        <a:tabLst/>
        <a:defRPr sz="2800" b="1" i="0" u="none" strike="noStrike" cap="none" spc="0" baseline="0">
          <a:solidFill>
            <a:srgbClr val="000000"/>
          </a:solidFill>
          <a:uFill>
            <a:solidFill>
              <a:srgbClr val="000000"/>
            </a:solidFill>
          </a:uFill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1pPr>
      <a:lvl2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2pPr>
      <a:lvl3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3pPr>
      <a:lvl4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4pPr>
      <a:lvl5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5pPr>
      <a:lvl6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6pPr>
      <a:lvl7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7pPr>
      <a:lvl8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8pPr>
      <a:lvl9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0" baseline="0">
          <a:solidFill>
            <a:schemeClr val="tx1"/>
          </a:solidFill>
          <a:uFill>
            <a:solidFill>
              <a:srgbClr val="302900"/>
            </a:solidFill>
          </a:uFill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t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ubtitle (Spring 2022)"/>
          <p:cNvSpPr txBox="1">
            <a:spLocks noGrp="1"/>
          </p:cNvSpPr>
          <p:nvPr>
            <p:ph type="body" idx="21"/>
          </p:nvPr>
        </p:nvSpPr>
        <p:spPr>
          <a:xfrm>
            <a:off x="329510" y="3429000"/>
            <a:ext cx="8468262" cy="424539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lang="en-US" b="0" dirty="0"/>
              <a:t>April 27, 2026</a:t>
            </a:r>
            <a:r>
              <a:rPr b="0" dirty="0"/>
              <a:t/>
            </a:r>
          </a:p>
        </p:txBody>
      </p:sp>
      <p:sp>
        <p:nvSpPr>
          <p:cNvPr id="51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Bi-Weekly Meeting</a:t>
            </a:r>
            <a:endParaRPr dirty="0"/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53" name="[NAME]…"/>
          <p:cNvSpPr txBox="1"/>
          <p:nvPr/>
        </p:nvSpPr>
        <p:spPr>
          <a:xfrm>
            <a:off x="3376482" y="4776260"/>
            <a:ext cx="2391037" cy="1258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 b="1"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/>
              <a:t>Ing Muyleang</a:t>
            </a:r>
            <a:endParaRPr dirty="0"/>
          </a:p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/>
              <a:t>PhD Student — Quantum Computing Lab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 err="1"/>
              <a:t>Pukyong National University</a:t>
            </a:r>
            <a:r>
              <a:rPr lang="en-US" dirty="0"/>
              <a:t/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Tx/>
              <a:buFontTx/>
              <a:defRPr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rPr lang="en-US" dirty="0" err="1"/>
              <a:t>muyleanging@gmail.com</a:t>
            </a:r>
            <a:r>
              <a:rPr lang="en-US" dirty="0"/>
              <a:t/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4F798-1670-F2C7-194E-8A1D6E17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Index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7711D-AD6A-5289-9510-FAD42809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50000"/>
              </a:lnSpc>
            </a:pPr>
            <a:r>
              <a:rPr sz="1700"/>
              <a:t>Quantum Federated Learning (QFL)</a:t>
            </a:r>
          </a:p>
          <a:p>
            <a:r>
              <a:rPr sz="1700"/>
              <a:t/>
            </a:r>
          </a:p>
          <a:p>
            <a:r>
              <a:rPr sz="1700"/>
              <a:t>  1.  Research Topic &amp; Motivation</a:t>
            </a:r>
          </a:p>
          <a:p>
            <a:r>
              <a:rPr sz="1700"/>
              <a:t>  2.  QFL vs QE-SAC — Method Comparison</a:t>
            </a:r>
          </a:p>
          <a:p>
            <a:r>
              <a:rPr sz="1700"/>
              <a:t>  3.  VQC Circuit &amp; SPSA Training</a:t>
            </a:r>
          </a:p>
          <a:p>
            <a:r>
              <a:rPr sz="1700"/>
              <a:t>  4.  Implementation &amp; Architecture</a:t>
            </a:r>
          </a:p>
          <a:p>
            <a:r>
              <a:rPr sz="1700"/>
              <a:t>  5.  Early Experiment Results</a:t>
            </a:r>
          </a:p>
          <a:p>
            <a:r>
              <a:rPr sz="1700"/>
              <a:t>  6.  Next Action Plan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9EA0B7C-E02C-191F-C7CE-4C4CC82A5EC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6926846"/>
      </p:ext>
    </p:extLst>
  </p:cSld>
  <p:clrMapOvr>
    <a:masterClrMapping/>
  </p:clrMapOvr>
  <p:transition spd="med"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3557-C8DC-885C-5BD0-67A61D08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1A92A1-97FE-0BA9-5CBC-9BF91902F6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514997-8D52-2171-14B4-45E1FFD1C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Quantum Federated Learning (QFL)</a:t>
            </a:r>
          </a:p>
        </p:txBody>
      </p:sp>
    </p:spTree>
    <p:extLst>
      <p:ext uri="{BB962C8B-B14F-4D97-AF65-F5344CB8AC3E}">
        <p14:creationId xmlns:p14="http://schemas.microsoft.com/office/powerpoint/2010/main" val="1870013511"/>
      </p:ext>
    </p:extLst>
  </p:cSld>
  <p:clrMapOvr>
    <a:masterClrMapping/>
  </p:clrMapOvr>
  <p:transition spd="med"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432F-4836-9DF8-5688-4AB6F28FB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39AE-BD22-388F-BAC0-B3EE6957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Executive Summary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AE5CE23-662B-91C3-E82E-C22AFDBA559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70F63-CF31-3605-D874-923803526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/>
              <a:t>Problem: Lin et al. (2025) QE-SAC controls Volt-VAR for ONE utility — no federation.</a:t>
            </a:r>
          </a:p>
          <a:p>
            <a:r>
              <a:rPr sz="1600"/>
              <a:t/>
            </a:r>
          </a:p>
          <a:p>
            <a:r>
              <a:rPr sz="1600"/>
              <a:t>This Work (QFL): Extends QE-SAC to 3 utilities federated via FedAvg.</a:t>
            </a:r>
          </a:p>
          <a:p>
            <a:r>
              <a:rPr sz="1600"/>
              <a:t>  • Replaces SAC (RL) with SPSA — gradient-free VQC optimization, no critic, no replay buffer</a:t>
            </a:r>
          </a:p>
          <a:p>
            <a:r>
              <a:rPr sz="1600"/>
              <a:t>  • Federates only the QuantumEncoder (280 params = 1.1 KB) — private topology encoders stay local</a:t>
            </a:r>
          </a:p>
          <a:p>
            <a:r>
              <a:rPr sz="1600"/>
              <a:t>  • 383× communication reduction vs classical Federated SAC-FL</a:t>
            </a:r>
          </a:p>
          <a:p>
            <a:r>
              <a:rPr sz="1600"/>
              <a:t/>
            </a:r>
          </a:p>
          <a:p>
            <a:r>
              <a:rPr sz="1600"/>
              <a:t>Implementation: Complete. QFLAgent + QFLTrainer across 13-bus / 34-bus / 123-bus topologies.</a:t>
            </a:r>
          </a:p>
          <a:p>
            <a:r>
              <a:rPr sz="1600"/>
              <a:t>Experiment: Running (3 seeds × 2 conditions). Early results confirm stable training.</a:t>
            </a:r>
          </a:p>
        </p:txBody>
      </p:sp>
    </p:spTree>
    <p:extLst>
      <p:ext uri="{BB962C8B-B14F-4D97-AF65-F5344CB8AC3E}">
        <p14:creationId xmlns:p14="http://schemas.microsoft.com/office/powerpoint/2010/main" val="2931621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67FF8-8B46-73B0-0593-B9568088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A915-45A6-7D27-D5B9-14580B60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New Progress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0BE9929-2654-22D5-E8ED-690962E0C4A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680C6-21A6-BB4E-DD7B-2134247AD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500"/>
              <a:t>QFL vs QE-SAC (Lin et al. 2025) — key differences:</a:t>
            </a:r>
          </a:p>
          <a:p>
            <a:r>
              <a:rPr sz="1500"/>
              <a:t/>
            </a:r>
          </a:p>
          <a:p>
            <a:r>
              <a:rPr sz="1500"/>
              <a:t>  Training:    QE-SAC uses SAC (RL)          | QFL uses SPSA (no RL, no critic)</a:t>
            </a:r>
          </a:p>
          <a:p>
            <a:r>
              <a:rPr sz="1500"/>
              <a:t>  Scope:       QE-SAC = 1 utility             | QFL = 3 utilities federated</a:t>
            </a:r>
          </a:p>
          <a:p>
            <a:r>
              <a:rPr sz="1500"/>
              <a:t>  Federated:   QE-SAC = No                   | QFL = Yes (FedAvg on QuantumEncoder)</a:t>
            </a:r>
          </a:p>
          <a:p>
            <a:r>
              <a:rPr sz="1500"/>
              <a:t>  Comm cost:   QE-SAC = N/A                  | QFL = 280 params = 1.1 KB/round</a:t>
            </a:r>
          </a:p>
          <a:p>
            <a:r>
              <a:rPr sz="1500"/>
              <a:t>  vs classical FL: —                          | 383× smaller than SAC-FL actor</a:t>
            </a:r>
          </a:p>
          <a:p>
            <a:r>
              <a:rPr sz="1500"/>
              <a:t>  VQC role:    QE-SAC = actor policy          | QFL = shared quantum encoder</a:t>
            </a:r>
          </a:p>
        </p:txBody>
      </p:sp>
      <p:pic>
        <p:nvPicPr>
          <p:cNvPr id="7" name="Picture 6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82296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0"/>
                </a:solidFill>
              </a:rPr>
              <a:t>Figure 1: QFL vs QE-SAC architecture (federated region = green dashed box)</a:t>
            </a:r>
          </a:p>
        </p:txBody>
      </p:sp>
    </p:spTree>
    <p:extLst>
      <p:ext uri="{BB962C8B-B14F-4D97-AF65-F5344CB8AC3E}">
        <p14:creationId xmlns:p14="http://schemas.microsoft.com/office/powerpoint/2010/main" val="3852765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D9E1-E24F-5902-3794-1E6E1380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22C5-45D9-DAE3-48E4-11210EBF6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Discussion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26026579-7342-E0C5-1B64-8FF188F567E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2092C-A20F-D1F1-2E61-B671CC4FF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/>
              <a:t>Items for advisor discussion:</a:t>
            </a:r>
          </a:p>
          <a:p>
            <a:r>
              <a:rPr sz="1600"/>
              <a:t/>
            </a:r>
          </a:p>
          <a:p>
            <a:r>
              <a:rPr sz="1600"/>
              <a:t>  1. Comparison baseline — QFL vs QE-SAC (Lin et al. 2025)</a:t>
            </a:r>
          </a:p>
          <a:p>
            <a:r>
              <a:rPr sz="1600"/>
              <a:t>     QE-SAC = single-utility RL. QFL = multi-utility, no RL, federated.</a:t>
            </a:r>
          </a:p>
          <a:p>
            <a:r>
              <a:rPr sz="1600"/>
              <a:t>     Metrics to compare: mean reward, violation rate, convergence speed.</a:t>
            </a:r>
          </a:p>
          <a:p>
            <a:r>
              <a:rPr sz="1600"/>
              <a:t/>
            </a:r>
          </a:p>
          <a:p>
            <a:r>
              <a:rPr sz="1600"/>
              <a:t>  2. Method name — 'QFL' (Quantum Federated Learning)</a:t>
            </a:r>
          </a:p>
          <a:p>
            <a:r>
              <a:rPr sz="1600"/>
              <a:t>     No RL, no SAC. Focus is on the FL + quantum representation.</a:t>
            </a:r>
          </a:p>
          <a:p>
            <a:r>
              <a:rPr sz="1600"/>
              <a:t>     Approval needed before paper title is finalized.</a:t>
            </a:r>
          </a:p>
          <a:p>
            <a:r>
              <a:rPr sz="1600"/>
              <a:t/>
            </a:r>
          </a:p>
          <a:p>
            <a:r>
              <a:rPr sz="1600"/>
              <a:t>  3. SPSA justification</a:t>
            </a:r>
          </a:p>
          <a:p>
            <a:r>
              <a:rPr sz="1600"/>
              <a:t>     SPSA avoids backprop through VQC → no barren plateau risk.</a:t>
            </a:r>
          </a:p>
          <a:p>
            <a:r>
              <a:rPr sz="1600"/>
              <a:t>     Tradeoff: 2 env evaluations per step (vs 1 for RL policy gradient).</a:t>
            </a:r>
          </a:p>
          <a:p>
            <a:r>
              <a:rPr sz="1600"/>
              <a:t>     Is this framing acceptable for IEEE TSG reviewers?</a:t>
            </a:r>
          </a:p>
        </p:txBody>
      </p:sp>
    </p:spTree>
    <p:extLst>
      <p:ext uri="{BB962C8B-B14F-4D97-AF65-F5344CB8AC3E}">
        <p14:creationId xmlns:p14="http://schemas.microsoft.com/office/powerpoint/2010/main" val="3777946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49B-A9CD-7D14-6DB0-EF1F194E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1024-642E-76F0-68F0-B8421B9A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Next Action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A9CE72C-BD49-E2CB-F8E5-F9713976E80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87742" y="6442075"/>
            <a:ext cx="199059" cy="2744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11D57-FDE9-492F-6231-338FF130D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/>
              <a:t>2-Week Plan:</a:t>
            </a:r>
          </a:p>
          <a:p>
            <a:r>
              <a:rPr sz="1600"/>
              <a:t/>
            </a:r>
          </a:p>
          <a:p>
            <a:r>
              <a:rPr sz="1600"/>
              <a:t>  Week 1 (Apr 27 – May 3):</a:t>
            </a:r>
          </a:p>
          <a:p>
            <a:r>
              <a:rPr sz="1600"/>
              <a:t>    • Collect full QFL results (3 seeds × 2 conditions) once run finishes</a:t>
            </a:r>
          </a:p>
          <a:p>
            <a:r>
              <a:rPr sz="1600"/>
              <a:t>    • Statistical analysis: local_only vs qfl — effect size d, t-test</a:t>
            </a:r>
          </a:p>
          <a:p>
            <a:r>
              <a:rPr sz="1600"/>
              <a:t>    • Add QE-SAC (Lin et al.) numbers as single-utility comparison baseline</a:t>
            </a:r>
          </a:p>
          <a:p>
            <a:r>
              <a:rPr sz="1600"/>
              <a:t>    • Generate final communication cost figure (383× bar chart)</a:t>
            </a:r>
          </a:p>
          <a:p>
            <a:r>
              <a:rPr sz="1600"/>
              <a:t/>
            </a:r>
          </a:p>
          <a:p>
            <a:r>
              <a:rPr sz="1600"/>
              <a:t>  Week 2 (May 4 – May 10):</a:t>
            </a:r>
          </a:p>
          <a:p>
            <a:r>
              <a:rPr sz="1600"/>
              <a:t>    • Write paper Section 3: QFL Methodology (SPSA + VQC + FedAvg)</a:t>
            </a:r>
          </a:p>
          <a:p>
            <a:r>
              <a:rPr sz="1600"/>
              <a:t>    • Write paper Section 4: Experiments (QFL vs QE-SAC vs local_only)</a:t>
            </a:r>
          </a:p>
          <a:p>
            <a:r>
              <a:rPr sz="1600"/>
              <a:t>    • Prepare VQC circuit diagram for paper (Figure 2 in paper)</a:t>
            </a:r>
          </a:p>
          <a:p>
            <a:r>
              <a:rPr sz="1600"/>
              <a:t>    • Internal draft → send to advisor for review</a:t>
            </a:r>
          </a:p>
        </p:txBody>
      </p:sp>
    </p:spTree>
    <p:extLst>
      <p:ext uri="{BB962C8B-B14F-4D97-AF65-F5344CB8AC3E}">
        <p14:creationId xmlns:p14="http://schemas.microsoft.com/office/powerpoint/2010/main" val="112411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Q &amp; A"/>
          <p:cNvSpPr txBox="1">
            <a:spLocks noGrp="1"/>
          </p:cNvSpPr>
          <p:nvPr>
            <p:ph type="title"/>
          </p:nvPr>
        </p:nvSpPr>
        <p:spPr>
          <a:xfrm>
            <a:off x="368934" y="48192"/>
            <a:ext cx="7886701" cy="762001"/>
          </a:xfrm>
          <a:prstGeom prst="rect">
            <a:avLst/>
          </a:prstGeom>
        </p:spPr>
        <p:txBody>
          <a:bodyPr/>
          <a:lstStyle/>
          <a:p>
            <a:r>
              <a:t>Q &amp; A</a:t>
            </a:r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817942" y="6476999"/>
            <a:ext cx="173658" cy="254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6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104" y="2934351"/>
            <a:ext cx="4294992" cy="12474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Progress (cont)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500"/>
              <a:t>VQC Circuit — identical to Lin et al. 2025 (fair comparison):</a:t>
            </a:r>
          </a:p>
          <a:p>
            <a:r>
              <a:rPr sz="1500"/>
              <a:t>  • 8 qubits, 2 layers, 16 trainable RX params</a:t>
            </a:r>
          </a:p>
          <a:p>
            <a:r>
              <a:rPr sz="1500"/>
              <a:t>  • State prep: RY(zᵢ), z = Tanh(SharedHead(obs)) × π ∈ (−π, π)</a:t>
            </a:r>
          </a:p>
          <a:p>
            <a:r>
              <a:rPr sz="1500"/>
              <a:t>  • Entanglement: CNOT(i, i+1) nearest-neighbour per layer</a:t>
            </a:r>
          </a:p>
          <a:p>
            <a:r>
              <a:rPr sz="1500"/>
              <a:t>  • Output: ⟨Zᵢ⟩ expectation per qubit → 8-dim feature</a:t>
            </a:r>
          </a:p>
          <a:p>
            <a:r>
              <a:rPr sz="1500"/>
              <a:t/>
            </a:r>
          </a:p>
          <a:p>
            <a:r>
              <a:rPr sz="1500"/>
              <a:t>SPSA Optimizer (replaces SAC backprop through VQC):</a:t>
            </a:r>
          </a:p>
          <a:p>
            <a:r>
              <a:rPr sz="1500"/>
              <a:t>  • δ ~ Rademacher(±1),  perturb θ ± c·δ,  evaluate reward twice</a:t>
            </a:r>
          </a:p>
          <a:p>
            <a:r>
              <a:rPr sz="1500"/>
              <a:t>  • ∂L/∂θ ≈ (L₊ − L₋) / (2c·δ)  — no quantum gradient needed</a:t>
            </a:r>
          </a:p>
          <a:p>
            <a:r>
              <a:rPr sz="1500"/>
              <a:t>  • Update: θ ← θ − α·∂L/∂θ    (c=0.1, α=0.01)</a:t>
            </a:r>
          </a:p>
          <a:p>
            <a:r>
              <a:rPr sz="1500"/>
              <a:t>  • Avoids barren plateau — SPSA never backprops through the circuit</a:t>
            </a:r>
          </a:p>
        </p:txBody>
      </p:sp>
      <p:pic>
        <p:nvPicPr>
          <p:cNvPr id="4" name="Picture 3" descr="fig_v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49039"/>
            <a:ext cx="841248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0"/>
                </a:solidFill>
              </a:rPr>
              <a:t>Figure 2: QFL VQC circuit — RY angle encoding, CNOT entanglement, RX trainable, ⟨Z⟩ measurement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Progress (cont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500"/>
              <a:t>Experiment: 3 seeds × 2 conditions (local_only vs qfl) — 🔄 Ongoing</a:t>
            </a:r>
          </a:p>
          <a:p>
            <a:r>
              <a:rPr sz="1500"/>
              <a:t>  Topologies: 13-bus (A, obs=43)  |  34-bus (B, obs=113)  |  123-bus (C, obs=349)</a:t>
            </a:r>
          </a:p>
          <a:p>
            <a:r>
              <a:rPr sz="1500"/>
              <a:t>  Rounds: 50  |  Steps/round: 1,000/client  |  Seeds: 0, 1, 2</a:t>
            </a:r>
          </a:p>
          <a:p>
            <a:r>
              <a:rPr sz="1500"/>
              <a:t/>
            </a:r>
          </a:p>
          <a:p>
            <a:r>
              <a:rPr sz="1500"/>
              <a:t>Early results — seed 0, local_only, mean reward/step:</a:t>
            </a:r>
          </a:p>
          <a:p>
            <a:r>
              <a:rPr sz="1500"/>
              <a:t>  Round 10:  A = −0.60  |  B = −0.16  |  C = −0.00</a:t>
            </a:r>
          </a:p>
          <a:p>
            <a:r>
              <a:rPr sz="1500"/>
              <a:t>  Round 20:  A = −0.60  |  B = −0.18  |  C = −0.00</a:t>
            </a:r>
          </a:p>
          <a:p>
            <a:r>
              <a:rPr sz="1500"/>
              <a:t>  Round 30:  A = −0.60  |  B = −0.21  |  C = −0.00</a:t>
            </a:r>
          </a:p>
          <a:p>
            <a:r>
              <a:rPr sz="1500"/>
              <a:t/>
            </a:r>
          </a:p>
          <a:p>
            <a:r>
              <a:rPr sz="1500"/>
              <a:t>Interpretation: C (123-bus) converges immediately — fewer critical buses per observation.</a:t>
            </a:r>
          </a:p>
          <a:p>
            <a:r>
              <a:rPr sz="1500"/>
              <a:t>B still learning. A stable but negative — voltage violations present, SPSA exploring.</a:t>
            </a:r>
          </a:p>
          <a:p>
            <a:r>
              <a:rPr sz="1500"/>
              <a:t>QFL (federated) condition starts after local_only completes per seed.</a:t>
            </a:r>
          </a:p>
        </p:txBody>
      </p:sp>
      <p:pic>
        <p:nvPicPr>
          <p:cNvPr id="4" name="Picture 3" descr="fi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40480"/>
            <a:ext cx="8595360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92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5050"/>
                </a:solidFill>
              </a:rPr>
              <a:t>Figure 3 (left): QFL learning curves — Figure 3 (right): Communication cost (383× reduction vs classical FL)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0000"/>
          </a:buClr>
          <a:buSzTx/>
          <a:buFont typeface="Helvetica"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92355</TotalTime>
  <Words>144</Words>
  <Application>Microsoft Macintosh PowerPoint</Application>
  <PresentationFormat>On-screen Show (4:3)</PresentationFormat>
  <Paragraphs>34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Avenir Next Regular</vt:lpstr>
      <vt:lpstr>Helvetica</vt:lpstr>
      <vt:lpstr>White</vt:lpstr>
      <vt:lpstr>Bi-Weekly Meeting</vt:lpstr>
      <vt:lpstr>Index </vt:lpstr>
      <vt:lpstr>Research Name</vt:lpstr>
      <vt:lpstr>Executive Summary</vt:lpstr>
      <vt:lpstr>New Progress</vt:lpstr>
      <vt:lpstr>Response to Previous Feedback</vt:lpstr>
      <vt:lpstr>Discussion</vt:lpstr>
      <vt:lpstr>Next Action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cp:lastModifiedBy>muyleanging</cp:lastModifiedBy>
  <cp:revision>5500</cp:revision>
  <cp:lastPrinted>2023-10-18T06:00:50Z</cp:lastPrinted>
  <dcterms:modified xsi:type="dcterms:W3CDTF">2026-04-15T08:55:40Z</dcterms:modified>
</cp:coreProperties>
</file>