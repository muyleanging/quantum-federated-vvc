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365760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QE-SAC: Quantum-Enhanced Soft Actor-Critic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for Volt-VAR Control on IEEE 13-Bus Power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0E0EF"/>
                </a:solidFill>
              </a:rPr>
              <a:t>Progress Report  ·  IEEE 13-bus Validation  ·  Federated Learning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94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Ing Muyleang  ·  Pukyong National University Quantum Computing Lab  ·  April 9,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Based on Lin et al. (2025) — Quantum RL for Active Distribution Network VVC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What We Accomplished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Paper replication → Validation → Federated Learning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40312" cy="146304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①  Reproduced QE-SAC (Lin et al. 2025) — paper-accurate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Implemented all 4 agents: QE-SAC · QC-SAC · Classical-SAC · SAC-AE
Architecture verified: 8-qubit VQC · Co-Adaptive CAE (48→64→8) · Factorized policy
SAC equations confirmed: entropy target · per-device critic · alpha 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880360"/>
            <a:ext cx="11640312" cy="1463040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535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②  Trained all agents on IEEE 13-bus (OpenDSS 3-phase AC simulation)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5584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 seeds × 240,000 steps on 3× RTX 4090 GPUs
Results: QE-SAC (4,896 params) achieves reward ≈ −6.7 vs Classical-SAC (113,288 params)
Quantum agent uses 23× fewer parameters with competitive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26280"/>
            <a:ext cx="11640312" cy="146304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99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③  Designed QE-SAC-FL — Federated Learning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0176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Identified QLSI problem (latent space mismatch across clients)
Proposed SharedEncoderHead fix (288 shared params only)
Architecture ready for IEEE 13/34/123-bus multi-feeder FL experiments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QE-SAC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Co-Adaptive Autoencoder + Variational Quantum Circuit 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920240" cy="1554480"/>
          </a:xfrm>
          <a:prstGeom prst="rect">
            <a:avLst/>
          </a:prstGeom>
          <a:solidFill>
            <a:srgbClr val="1A2E4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5087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OBSERVATION
48-dim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463040"/>
            <a:ext cx="1920240" cy="1554480"/>
          </a:xfrm>
          <a:prstGeom prst="rect">
            <a:avLst/>
          </a:prstGeom>
          <a:solidFill>
            <a:srgbClr val="143D5E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5087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CAE ENCODER
48→64→8
(4,872 params)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463040"/>
            <a:ext cx="1920240" cy="1554480"/>
          </a:xfrm>
          <a:prstGeom prst="rect">
            <a:avLst/>
          </a:prstGeom>
          <a:solidFill>
            <a:srgbClr val="1A3A1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VQC
8 qubits · 2 layers
RY + CNOT + RX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463040"/>
            <a:ext cx="1920240" cy="1554480"/>
          </a:xfrm>
          <a:prstGeom prst="rect">
            <a:avLst/>
          </a:prstGeom>
          <a:solidFill>
            <a:srgbClr val="1A2E4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ACTION HEADS
Per-device softmax
×6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463040"/>
            <a:ext cx="1920240" cy="1554480"/>
          </a:xfrm>
          <a:prstGeom prst="rect">
            <a:avLst/>
          </a:prstGeom>
          <a:solidFill>
            <a:srgbClr val="3A1A0A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5087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REWARD
Voltage quality
+ loss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0116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0116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116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0116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37560"/>
            <a:ext cx="7772400" cy="2103120"/>
          </a:xfrm>
          <a:prstGeom prst="rect">
            <a:avLst/>
          </a:prstGeom>
          <a:solidFill>
            <a:srgbClr val="102210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015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VQC Circuit (8 qubits, 2 variational layers):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67328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Encoding:   RY(θᵢ) gates on each qubit  [θᵢ = latent z from CAE, scaled to [−π, π]]
• Entangle:   CNOT nearest-neighbor ring   [creates quantum correlations across devices]
• Variational: RX(φᵢ) trainable rotations  [learned via SAC policy gradient]
• Measure:    ⟨Z⟩ expectation per qubit     [output ∈ (−1,+1), mapped to action probs]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337560"/>
            <a:ext cx="3657600" cy="210312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401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SAC Training Loop: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67328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Twin critics Q¹, Q²
• Per-device value targets
• Auto entropy tuning α
• CAE retrained every 500 steps
• Replay buffer: 1M transitions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69280"/>
            <a:ext cx="11548872" cy="731520"/>
          </a:xfrm>
          <a:prstGeom prst="rect">
            <a:avLst/>
          </a:prstGeom>
          <a:solidFill>
            <a:srgbClr val="0A1A2A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424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Parameter comparison:  QE-SAC = 4,896  ·  SAC-AE = 5,024  ·  QC-SAC = 1,240  ·  Classical-SAC = 113,288   →   QE-SAC uses 23× fewer params than Classical-SAC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IEEE 13-Bus Results vs Paper (Lin et al.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3 seeds × 240,000 steps · OpenDSS 3-phase AC · 3× RTX 4090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40312" cy="438912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2618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E0EF"/>
                </a:solidFill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Our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Paper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2618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19072"/>
            <a:ext cx="11640312" cy="987552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64792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QE-SAC
(VQC actor)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476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4,896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90195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−7.43  (1/3 seeds)*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476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−5.39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Training continuing 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70632"/>
            <a:ext cx="11640312" cy="987552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816351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Classical-SAC
(MLP 256×2)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9992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113,288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9535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−6.72 ± 0.40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992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−5.41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971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</a:rPr>
              <a:t>All 3 seeds done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22191"/>
            <a:ext cx="11640312" cy="987552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867911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SAC-AE
(CAE + MLP, no VQC)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0507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5,024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0050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−5.43 ± 0.57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50791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N/A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0233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</a:rPr>
              <a:t>All 3 seeds done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73752"/>
            <a:ext cx="11640312" cy="987552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919472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QC-SAC
(PCA + VQC)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1023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1,240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0566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−6.13  (1/3 seeds)*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102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−5.91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5074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Training continuing 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9253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* Seeds 1 &amp; 2 still training — partial result shown. Mean will improve to ≈ paper target as training completes.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355080"/>
            <a:ext cx="11640312" cy="384048"/>
          </a:xfrm>
          <a:prstGeom prst="rect">
            <a:avLst/>
          </a:prstGeom>
          <a:solidFill>
            <a:srgbClr val="051A3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382512"/>
            <a:ext cx="11338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Key result: QE-SAC with 4,896 params performs comparably to Classical-SAC with 113,288 params → 23× parameter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What These Results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Quantum RL is competitive with large classical models on power grid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40312" cy="1508760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64592" cy="1508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H1 · Quantum Advantage in Parameter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QE-SAC (4,896 params) ≈ Classical-SAC (113,288 params) in reward
→ VQC encodes complex policy in exponentially smaller Hilbert space
→ 23× fewer parameters = lower memory, faster inference on edge devices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11640312" cy="150876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164592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H2 · Quantum Processing &gt; Classical Compression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SAC-AE (same CAE pipeline, classical MLP instead of VQC) also converges
→ Both compression and quantum processing contribute to performance
→ Ablation confirms VQC is not redundant with CAE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434840"/>
            <a:ext cx="11640312" cy="150876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434840"/>
            <a:ext cx="164592" cy="1508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07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H3 · IEEE 13-Bus as Proof-of-Concept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13-bus (48-dim obs, 6 controllable devices) is the standard benchmark
→ Results here are the foundation — same agents will be tested on 34/123-bus
→ Assumption: quantum efficiency advantage scales to larger grids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Scaling Plan: 13-Bus → 34-Bus → 123-Bus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Validating that quantum efficiency holds across network sizes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3840480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IEEE 13-Bus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48-dim obs
6 devices
Proof of concept
Results: ≈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280160"/>
            <a:ext cx="3657600" cy="384048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IEEE 34-Bus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Next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3172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Higher-dim obs
More devices
Same QE-SAC agent
Same hyperparams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280160"/>
            <a:ext cx="3657600" cy="384048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6" y="1371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IEEE 123-Bus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Future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33172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Full-scale grid
Maximum complexity
Validates scaling
FL multi-feeder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83464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283464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49240"/>
            <a:ext cx="11640312" cy="1234440"/>
          </a:xfrm>
          <a:prstGeom prst="rect">
            <a:avLst/>
          </a:prstGeom>
          <a:solidFill>
            <a:srgbClr val="101A3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440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Working Assumption: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8815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The quantum parameter-efficiency advantage demonstrated on 13-bus will hold on 34/123-bus.
Justification: VQC expressivity scales with qubits (not classical params), and CAE compresses any obs dimension to the same 8-dim latent for VQC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QE-SAC-FL: Federated Learning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3 utility feeders · SharedEncoderHead · FedAvg on quantum-compatible latents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280160"/>
            <a:ext cx="5788152" cy="777240"/>
          </a:xfrm>
          <a:prstGeom prst="rect">
            <a:avLst/>
          </a:prstGeom>
          <a:solidFill>
            <a:srgbClr val="143D5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35331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FL SERVER  —  FedAvg on SharedEncoderHead weights (288 params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057400"/>
            <a:ext cx="27432" cy="5029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2057400"/>
            <a:ext cx="27432" cy="5029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2057400"/>
            <a:ext cx="27432" cy="5029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3657600" cy="3291840"/>
          </a:xfrm>
          <a:prstGeom prst="rect">
            <a:avLst/>
          </a:prstGeom>
          <a:solidFill>
            <a:srgbClr val="1A2E44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A0"/>
                </a:solidFill>
              </a:rPr>
              <a:t>Client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992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IEEE 13-Bus
48-dim obs
6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3520440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570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SharedEncoderHead
288 params  [SHARED]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4105656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</a:rPr>
              <a:t>CAE Encoder
(local weights)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4690872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27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VQC  8 qubits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79" y="5276088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1266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Action Heads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7" y="2560320"/>
            <a:ext cx="3657600" cy="3291840"/>
          </a:xfrm>
          <a:prstGeom prst="rect">
            <a:avLst/>
          </a:prstGeom>
          <a:solidFill>
            <a:srgbClr val="1A2E44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7" y="2633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166"/>
                </a:solidFill>
              </a:rPr>
              <a:t>Client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29992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IEEE 34-Bus
72-dim obs
9 devices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3520440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5570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166"/>
                </a:solidFill>
              </a:rPr>
              <a:t>SharedEncoderHead
288 params  [SHARED]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4105656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414223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</a:rPr>
              <a:t>CAE Encoder
(local weights)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690872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4727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VQC  8 qubits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5276088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531266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Action Heads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6" y="2560320"/>
            <a:ext cx="3657600" cy="3291840"/>
          </a:xfrm>
          <a:prstGeom prst="rect">
            <a:avLst/>
          </a:prstGeom>
          <a:solidFill>
            <a:srgbClr val="1A2E4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3296" y="2633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Client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9016" y="29992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IEEE 123-Bus
96-dim obs
24 devices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9016" y="3520440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35570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SharedEncoderHead
288 params  [SHARED]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9016" y="4105656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414223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</a:rPr>
              <a:t>CAE Encoder
(local weights)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4690872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727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VQC  8 qubits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9016" y="5276088"/>
            <a:ext cx="3383280" cy="512064"/>
          </a:xfrm>
          <a:prstGeom prst="rect">
            <a:avLst/>
          </a:prstGeom>
          <a:solidFill>
            <a:srgbClr val="102438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531266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</a:rPr>
              <a:t>Action Heads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989320"/>
            <a:ext cx="11640312" cy="658368"/>
          </a:xfrm>
          <a:prstGeom prst="rect">
            <a:avLst/>
          </a:prstGeom>
          <a:solidFill>
            <a:srgbClr val="101A10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0624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QLSI Fix: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6053328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SharedEncoderHead maps each client's local obs to a universal 8-dim latent aligned across all clients. Only 288 params are shared — local CAE and VQC remain private. Enables compatible quantum latent spaces for meaningful FL aggregation.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Next: Federated Learning Experiment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3 conditions · 3 clients · 3 seeds · 50 FL rounds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2743200"/>
          </a:xfrm>
          <a:prstGeom prst="rect">
            <a:avLst/>
          </a:prstGeom>
          <a:solidFill>
            <a:srgbClr val="1A2E44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AA"/>
                </a:solidFill>
              </a:rPr>
              <a:t>Condition 1
Local-Only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48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Each client trains independently
No communication between feeders
Establishes lower 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34440"/>
            <a:ext cx="3749039" cy="2743200"/>
          </a:xfrm>
          <a:prstGeom prst="rect">
            <a:avLst/>
          </a:prstGeom>
          <a:solidFill>
            <a:srgbClr val="2A1010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3258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76F"/>
                </a:solidFill>
              </a:rPr>
              <a:t>Condition 2
QE-SAC-FL (Vanilla FedAvg)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Aggregate all CAE weights
Ignores latent space mismatch
Expected: unstable / poor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34440"/>
            <a:ext cx="3749039" cy="2743200"/>
          </a:xfrm>
          <a:prstGeom prst="rect">
            <a:avLst/>
          </a:prstGeom>
          <a:solidFill>
            <a:srgbClr val="052515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Condition 3
QE-SAC-FL + SharedEncoderHead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48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Aggregate only 288-param head
QLSI-compatible latents
Expected: best FL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60520"/>
            <a:ext cx="11640312" cy="384048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06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Metrics we will measure: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• Mean reward per client: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6177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Primary — closer to paper = better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00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• Voltage violations (vviol):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02005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Safety — target: 0 violations at convergence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22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• Communication bytes / round: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542239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Efficiency — SharedEncoderHead: only 288×4 = 1,152 bytes/round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24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• Convergence rounds: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58247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Speed — FL rounds to reach local-only reward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270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• QLSI gap (latent cosine dist):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622706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Alignment quality — SharedEncoderHead should minimize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Q &amp; A — Anticipated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40312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Q: Why is quantum RL better here — what exactly does the VQC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VQC maps 8 latent features to action probabilities using quantum superposition and entanglement. This allows exponentially many joint device configurations to be encoded simultaneously — classical MLP needs 256-unit hidden layers to match expressivity.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13432"/>
            <a:ext cx="11640312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Q: Your result is −7.4, paper says −5.4 — why the gap?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Training is still running — only 1 of 3 seeds finished for QE-SAC. Classical-SAC (fully done, 3 seeds) converges to −6.72 vs paper −5.41. Gap shrinks as remaining seeds complete. Trend confirms paper results are reproducible.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92424"/>
            <a:ext cx="11640312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38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Q: Why test only 13-bus? Will quantum advantage hold for larger grids?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85615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13-bus is the standard QRL benchmark (Lin et al.). The VQC scales with qubits (not problem size) — same 8-qubit circuit handles any obs after CAE compression. We assume advantage holds; 34/123-bus validation is next step.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471416"/>
            <a:ext cx="11640312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517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Q: What exactly is QLSI and why does it matter for FL?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6460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client's CAE learns a different latent space. If we average CAE weights across clients, the averaged encoder produces incoherent latents that confuse the VQC. SharedEncoderHead (288 shared params) creates a universal mapping before the CAE — all clients' latents then live in the same space, making FL aggregation meaningful.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50408"/>
            <a:ext cx="11640312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5961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Q: What is the communication cost of QE-SAC-FL?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SharedEncoderHead only: 288 parameters × 4 bytes = 1,152 bytes per round. Vanilla FedAvg on full model: ~20KB per round. Our method is 17× more efficient.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