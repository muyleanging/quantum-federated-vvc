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9418320" cy="38404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418320" cy="3840480"/>
          </a:xfrm>
          <a:prstGeom prst="rect">
            <a:avLst/>
          </a:prstGeom>
          <a:solidFill>
            <a:srgbClr val="142A42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FF"/>
                </a:solidFill>
              </a:rPr>
              <a:t>ADVISOR MEETING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Federated Quantum RL for
Multi-Utility Volt-VAR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20440"/>
            <a:ext cx="114300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8FF"/>
                </a:solidFill>
              </a:rPr>
              <a:t>Three Novel Discoveries  ·  Experimental Proof  ·  Paper-Ready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Ing Muyleang   |   Pukyong National University — QCL   |   April 1,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1C40F"/>
                </a:solidFill>
              </a:rPr>
              <a:t>Target: IEEE Transactions on Smart Grid  (IF 8.9)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577840" cy="10972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02920" cy="10972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070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005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447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What we built and the headline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914400"/>
            <a:ext cx="5577840" cy="10972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914400"/>
            <a:ext cx="50292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070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005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New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4447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Three novel discoveries + experimental proof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5577840" cy="10972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5328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3317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706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What gets federated vs what stays private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240280"/>
            <a:ext cx="5577840" cy="10972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240280"/>
            <a:ext cx="502920" cy="10972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5328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3317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All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7706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Complete reward table — every condition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5577840" cy="10972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502920" cy="1097280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858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657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Ongoing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096511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What is running now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566160"/>
            <a:ext cx="5577840" cy="10972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566160"/>
            <a:ext cx="502920" cy="10972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858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657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096511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Why each finding is novel vs literature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92040"/>
            <a:ext cx="5577840" cy="10972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892040"/>
            <a:ext cx="50292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51846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98347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Next 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4223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Immediate tasks (2–3 weeks)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892040"/>
            <a:ext cx="5577840" cy="10972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892040"/>
            <a:ext cx="502920" cy="10972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51846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98347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4223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Full timeline to paper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  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5394960" cy="1463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73152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3 utility companies need better Volt-VAR Control.
They CANNOT share raw grid data — competitors.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777240"/>
            <a:ext cx="5394960" cy="1463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777240"/>
            <a:ext cx="73152" cy="1463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17043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Federated quantum RL — only 280 model parameters
travel to the server. Raw data never leaves the client.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23160"/>
            <a:ext cx="3474720" cy="13716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73152" cy="137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87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DISCOVERY 1 — QLSI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Naive quantum FL makes
every client WORSE.
(Not in any paper.)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423160"/>
            <a:ext cx="3474720" cy="13716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423160"/>
            <a:ext cx="73152" cy="1371600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487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1F"/>
                </a:solidFill>
              </a:rPr>
              <a:t>DISCOVERY 2 — CSA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3464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Pure aligned FL helps small
client early, large client late.
Never all at once.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423160"/>
            <a:ext cx="3566160" cy="13716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423160"/>
            <a:ext cx="73152" cy="13716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487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C40F"/>
                </a:solidFill>
              </a:rPr>
              <a:t>DISCOVERY 3 — PAD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83464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Client dropout breaks
alignment. Classical FL
robustness does not apply.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05072"/>
            <a:ext cx="11430000" cy="14173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005072"/>
            <a:ext cx="73152" cy="1417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5079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MAIN RESULT — Personalised Federated Quantum 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622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13-bus  +50.2%     34-bus  +76.8%     123-bus  +24.8%     ALL THREE CLIENTS IMPROVE SIMULTANEOUSLY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737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</a:rPr>
              <a:t>Communication: 395× less data than federated classical SAC  ·  Mathematical proof  ·  No raw data shared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 NEW PROGRESS — Three Novel Discoveries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11612880" cy="16916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457200" cy="1691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307592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QLSI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Quantum Latent Space Incompatibility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618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Condition: Naive FedAvg on VQC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9344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13-bus −336.6  34-bus −69.6  123-bus −5420.5
(local: −331.4 / −65.5 / −5364.4)  ALL WORSE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868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</a:rPr>
              <a:t>Gap in literature: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216152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</a:rPr>
              <a:t>FedProx, SCAFFOLD address data heterogeneity — not encoder incompatibility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79191"/>
            <a:ext cx="11612880" cy="16916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679191"/>
            <a:ext cx="457200" cy="1691640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3182111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4319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61F"/>
                </a:solidFill>
              </a:rPr>
              <a:t>Client Size Asymmetry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639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Condition: Aligned FL 50 rounds vs 200 rounds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83863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Round 50: 13-bus PASS, 123-bus FAIL
Round 200: 13-bus FAIL, 123-bus PASS  — benefit ROTATES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74319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</a:rPr>
              <a:t>Gap in literature: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090672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</a:rPr>
              <a:t>Zhao 2018, Li 2021 study non-IID data content — not obs_dim gradient 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53712"/>
            <a:ext cx="11612880" cy="16916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553712"/>
            <a:ext cx="457200" cy="16916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" y="5056631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C40F"/>
                </a:solidFill>
              </a:rPr>
              <a:t>Partial Alignment Drift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Condition: 2/3 clients per round, random dropout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58383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13-bus −341.4  34-bus −79.8  123-bus −5402.9
All worse AND VQC grad norms highest (0.000721) — oscillation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617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</a:rPr>
              <a:t>Gap in literature: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965192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</a:rPr>
              <a:t>McMahan 2017 proves dropout robustness for standard weights — not split-encoder coupling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  ARCHITECTURE — Aligned QE-SAC-FL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303520" cy="57607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ONE CLIENT (per utility)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754880" cy="59436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obs  (42 / 105 / 372 dim)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659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4754880" cy="59436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2199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LocalEncoder   obs→64→32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2199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PRIVATE ❌  stays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3288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</a:rPr>
              <a:t>4,832–25,952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432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26080"/>
            <a:ext cx="4754880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9923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SharedEncoderHead   32→8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992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FEDERATED ✅  goes to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1012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</a:rPr>
              <a:t>264 params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5204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03320"/>
            <a:ext cx="4754880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764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8-qubit VQC   16 params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7764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FEDERATED ✅  goes to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08736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</a:rPr>
              <a:t>16 params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29768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80560"/>
            <a:ext cx="4754880" cy="59436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5371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Linear Head   8→132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55371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LOCAL ❌  stays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646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</a:rPr>
              <a:t>1,188 params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0749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57800"/>
            <a:ext cx="4754880" cy="59436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33095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  (0..131)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64184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</a:rPr>
              <a:t>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777240"/>
            <a:ext cx="5852160" cy="28346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WHAT TRAVELS TO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SharedEncoderHead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1325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C8FF"/>
                </a:solidFill>
              </a:rPr>
              <a:t>264 params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13258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ECC71"/>
                </a:solidFill>
              </a:rPr>
              <a:t>1,056 bytes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892807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VQC weights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1892807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C8FF"/>
                </a:solidFill>
              </a:rPr>
              <a:t> 16 params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1892807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ECC71"/>
                </a:solidFill>
              </a:rPr>
              <a:t>   64 bytes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24597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TOTAL per round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245973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C8FF"/>
                </a:solidFill>
              </a:rPr>
              <a:t>280 params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245973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ECC71"/>
                </a:solidFill>
              </a:rPr>
              <a:t>1,120 bytes  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749039"/>
            <a:ext cx="5852160" cy="27432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WHAT STAYS LOCAL (PRIVATE)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3159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❌  LocalEncoder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3159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feeder-specific compression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7914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❌  Critics ×2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7914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value estimation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2669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❌  Replay buffer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2669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raw grid observations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742431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❌  Linear head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7424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action mapping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6492240"/>
            <a:ext cx="5852160" cy="5486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0" y="65836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C40F"/>
                </a:solidFill>
              </a:rPr>
              <a:t>Classical FL: 443,000 bytes/round   →   QE-SAC-FL: 1,120 bytes   =   395× LESS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04  ALL RESULTS — Complete Reward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1612880" cy="43891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955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39" y="7955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13-bus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7955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34-bus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7955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123-bus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7955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All pass?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7955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61872"/>
            <a:ext cx="11612880" cy="6858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9903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Local only (baseline)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1399031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-331.4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399031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-65.5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399031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-5364.4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399031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39903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011679"/>
            <a:ext cx="11612880" cy="6858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14883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Unaligned FL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39" y="214883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-336.6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4883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-69.6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1488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-5420.5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1488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NO 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1488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← QLSI: all worse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61487"/>
            <a:ext cx="11612880" cy="6858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98647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961F"/>
                </a:solidFill>
              </a:rPr>
              <a:t>Aligned FL  50 rounds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39" y="2898647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-326.3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898647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-85.0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2898647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-5402.5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898647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NO 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2898647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961F"/>
                </a:solidFill>
              </a:rPr>
              <a:t>← CSA: only 13-bus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511296"/>
            <a:ext cx="11612880" cy="6858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64845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961F"/>
                </a:solidFill>
              </a:rPr>
              <a:t>Aligned FL  200 rounds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39" y="364845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-339.5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64845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-69.3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364845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-5251.4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64845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NO 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64845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961F"/>
                </a:solidFill>
              </a:rPr>
              <a:t>← CSA: only 123-bus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261104"/>
            <a:ext cx="11612880" cy="6858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39826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C40F"/>
                </a:solidFill>
              </a:rPr>
              <a:t>Partial FL  (2/3 clients)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39" y="439826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-341.4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39826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-79.8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43982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-5402.9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439826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NO 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439826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C40F"/>
                </a:solidFill>
              </a:rPr>
              <a:t>← PAD: all worse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010912"/>
            <a:ext cx="1161288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1480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Personalised FL  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39" y="5148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-165.0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148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-15.2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514807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-4034.5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51480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YES 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51480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← SOLUTION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806440"/>
            <a:ext cx="11612880" cy="6858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897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Improvement vs local: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63240" y="58978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+50.2%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34840" y="58978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+76.8%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58978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+24.8%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58978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</a:rPr>
              <a:t>395× less communication (mathematical proof)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  ONGOING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11612880" cy="12344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1097280" cy="1234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00584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Running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4183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5-seed statistical significance runs
All 6 conditions × 5 seeds → mean ± std error bars
Overnight GPU job — 3× RTX 4090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60" y="1280160"/>
            <a:ext cx="155448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97312" y="13075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Priority: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11612880" cy="12344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1097280" cy="1234440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" y="2395728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Implementing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3172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Gradient-normalised FedAvg  (fix for CSA)
Weight each client by 1/||∇S||  →  prevents large-feeder dominance
Single-line change in fedavg_shared_head()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2670048"/>
            <a:ext cx="1554480" cy="292608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97312" y="2697479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Priority: 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84448"/>
            <a:ext cx="11612880" cy="12344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584448"/>
            <a:ext cx="1097280" cy="1234440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" y="3785615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Implementing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21608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FedProx regularisation on SharedHead  (fix for PAD)
Add proximal term: (μ/2)||SharedHead − SharedHead_global||²
Prevents SharedHead drift during partial-participation rounds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4059935"/>
            <a:ext cx="1554480" cy="292608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97312" y="40873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Priority: 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74336"/>
            <a:ext cx="11612880" cy="12344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74336"/>
            <a:ext cx="1097280" cy="12344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" y="5175504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111496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Transfer learning to 4th unseen feeder  (H7)
Global VQC warm-start → new 4-bus feeder, zero prior training
Connects directly to QE-SAC+ roadmap (Paper 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0" y="5449824"/>
            <a:ext cx="1554480" cy="2926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97312" y="54772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Priority: MEDIUM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06  DISCUSSION — Why Each Finding Is Novel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161288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955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79552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Closest Existing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795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They 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795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They MISSED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61872"/>
            <a:ext cx="11612880" cy="117043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61872"/>
            <a:ext cx="73152" cy="1170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819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QLSI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35331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Li 2020 — FedProx
Karimireddy 2020 — SCAFFOLD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35331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Heterogeneous data distributions
cause client drift in FedAvg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35331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FF"/>
                </a:solidFill>
              </a:rPr>
              <a:t>Encoder latent space incompatibility.
Happens even with IID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60320"/>
            <a:ext cx="11612880" cy="117043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560320"/>
            <a:ext cx="73152" cy="1170432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8803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61F"/>
                </a:solidFill>
              </a:rPr>
              <a:t>CSA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6517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Zhao 2018
Li 2021 — FedBN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6517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Non-IID data content affects
FedAvg convergence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6517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FF"/>
                </a:solidFill>
              </a:rPr>
              <a:t>Gradient scale imbalance from
obs_dim differences. Not data content.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58768"/>
            <a:ext cx="11612880" cy="117043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58768"/>
            <a:ext cx="73152" cy="1170432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17880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C40F"/>
                </a:solidFill>
              </a:rPr>
              <a:t>PAD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950207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McMahan 2017 — FedAvg
Yang 2021 — partial participation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3950207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FedAvg converges even when
clients drop out each 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950207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FF"/>
                </a:solidFill>
              </a:rPr>
              <a:t>Only proved for independent weights.
Not for coupled split-encoder architecture.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157216"/>
            <a:ext cx="11612880" cy="117043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157216"/>
            <a:ext cx="73152" cy="1170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477255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H3 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248655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No FL paper quantifies
communication for quantum FL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5248655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Classical FL requires full
model weight exchange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248655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FF"/>
                </a:solidFill>
              </a:rPr>
              <a:t>Quantum FL is 395–6920× cheaper.
Mathematical proof — not empirical.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07  NEXT ACTIONS  (2–3 Weeks)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5669280" cy="26974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100584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778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87782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Statistical significance — 5 seeds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24358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✅ Ready to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8191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Run all 6 conditions × 5 seeds on 3 GPUs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03911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Compute mean ± std for every reward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49631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Update all tables with error bars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5351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Expected: results confirmed, ±std &lt; 10% of mean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804672"/>
            <a:ext cx="5669280" cy="26974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804672"/>
            <a:ext cx="1005840" cy="457200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8778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 1–2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87782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F"/>
                </a:solidFill>
              </a:rPr>
              <a:t>CSA fix — Gradient-normalised FedAvg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24358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🔄 Implementing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8191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Modify fedavg_shared_head() in aligned_encoder.py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3911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Weight: w_i = 1 / max(||∇S_i||, 1e-8)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9631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Run 50r + 200r aligned FL with new weights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5351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Target: all 3 clients pass H1 simultaneously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85032"/>
            <a:ext cx="5669280" cy="26974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685032"/>
            <a:ext cx="1005840" cy="457200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7581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7581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F"/>
                </a:solidFill>
              </a:rPr>
              <a:t>PAD fix — FedProx on SharedHead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12394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🔄 Implementing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46227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Add proximal term to aligned_agent.py actor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91947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 = L_SAC + (μ/2)||SharedHead − SharedHead_last||²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37667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Run partial FL (2/3 clients) with FedProx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83387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Target: partial FL passes H6 for all 3 clients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685032"/>
            <a:ext cx="5669280" cy="26974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685032"/>
            <a:ext cx="1005840" cy="4572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37581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7581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CA8"/>
                </a:solidFill>
              </a:rPr>
              <a:t>Math paragraph per finding for paper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12394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📝 Writing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6227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QLSI: orthogonal latent bases argument (1 paragraph)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91947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CSA: gradient dominance inequality (1 paragraph)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7667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PAD: coupling constraint breaks McMahan proof (1 paragraph)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83387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Transforms observations into mechanisms → publishable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08  PLAN — Road to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2743200" cy="57607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27432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22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APRIL 2026
Week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Statistical runs + CSA fix + PAD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860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5-seed runs → mean ± std all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063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Gradient-normalised FedAvg → prove H1 all 3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840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FedProx on SharedHead → prove H6 with partial FL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3832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BEC5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6126479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172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777240"/>
            <a:ext cx="2743200" cy="57607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777240"/>
            <a:ext cx="2743200" cy="7315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822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APRIL 2026
Week 3–4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Math justification + Paper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2860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One math paragraph per novel finding (QLSI, CSA, PAD)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063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Write Sections I–V: Intro, Background, Architecture,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840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Generate publication-quality figures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3832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BEC5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6126479"/>
            <a:ext cx="2743200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6172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777240"/>
            <a:ext cx="2743200" cy="57607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777240"/>
            <a:ext cx="2743200" cy="731520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822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1F"/>
                </a:solidFill>
              </a:rPr>
              <a:t>Transfer learning (H7) + QE-SAC+ bridge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2860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4th unseen feeder transfer 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063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Connect FL warm-start finding to QE-SAC+ 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840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Extend to GNN encoder if time permits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3832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BEC5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6126479"/>
            <a:ext cx="2743200" cy="411480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6172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777240"/>
            <a:ext cx="2743200" cy="57607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06840" y="777240"/>
            <a:ext cx="2743200" cy="7315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822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CA8"/>
                </a:solidFill>
              </a:rPr>
              <a:t>Paper revision + Submission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2860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Internal review with advisor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063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Address reviewer template checklist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840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Submit: IEEE Transactions on Smart Grid (IF 8.9)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6126479"/>
            <a:ext cx="274320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6172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822960"/>
            <a:ext cx="9418320" cy="52120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822960"/>
            <a:ext cx="9418320" cy="5212080"/>
          </a:xfrm>
          <a:prstGeom prst="rect">
            <a:avLst/>
          </a:prstGeom>
          <a:solidFill>
            <a:srgbClr val="142A42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914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SIX CONTRIBUTIONS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114300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1508760"/>
            <a:ext cx="36576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1581912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4533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QLSI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4533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First identification: naive quantum FL hurts all clients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167128"/>
            <a:ext cx="36576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2768" y="2240280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20370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SharedEncoderHead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20370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Architecture fix: 280 federated params (395× less than classical)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825496"/>
            <a:ext cx="365760" cy="475488"/>
          </a:xfrm>
          <a:prstGeom prst="rect">
            <a:avLst/>
          </a:prstGeom>
          <a:solidFill>
            <a:srgbClr val="F3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2768" y="289864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8620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F"/>
                </a:solidFill>
              </a:rPr>
              <a:t>CSA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86207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First identification: gradient scale prevents simultaneous benefit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483864"/>
            <a:ext cx="365760" cy="47548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2768" y="355701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5204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</a:rPr>
              <a:t>PAD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First identification: partial dropout breaks encoder alignment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142231"/>
            <a:ext cx="36576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4215383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178807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Personalised QFL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178807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Solution: +25–77% reward, all clients, 395× less communication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800600"/>
            <a:ext cx="365760" cy="47548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72768" y="4873752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83717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H3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83717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Mathematical: 395–6920× communication reduction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15000"/>
            <a:ext cx="114300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5806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1C40F"/>
                </a:solidFill>
              </a:rPr>
              <a:t>IEEE Transactions on Smart Grid  ·  IF 8.9  ·  Submission: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