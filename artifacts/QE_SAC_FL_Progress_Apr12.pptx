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097280"/>
            <a:ext cx="10725912" cy="4114800"/>
          </a:xfrm>
          <a:prstGeom prst="rect">
            <a:avLst/>
          </a:prstGeom>
          <a:solidFill>
            <a:srgbClr val="1A2E44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072591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32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00B4D8"/>
                </a:solidFill>
              </a:rPr>
              <a:t>QE-SAC-FL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331720"/>
            <a:ext cx="10332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Federated Quantum-Enhanced Soft Actor-Critic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880360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90E0EF"/>
                </a:solidFill>
              </a:rPr>
              <a:t>for Heterogeneous Volt-VAR Control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3657600"/>
            <a:ext cx="10725912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794760"/>
            <a:ext cx="10332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D166"/>
                </a:solidFill>
              </a:rPr>
              <a:t>Progress Report  ·  April 12,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06240"/>
            <a:ext cx="10332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AAAAAA"/>
                </a:solidFill>
              </a:rPr>
              <a:t>Ing Muyleang  ·  Pukyong National University — Quantum Computing Lab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53712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AAAAAA"/>
                </a:solidFill>
              </a:rPr>
              <a:t>Base paper: Lin et al. (2025) DOI: 10.1109/OAJPE.2025.3534946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263640"/>
            <a:ext cx="12188952" cy="594360"/>
          </a:xfrm>
          <a:prstGeom prst="rect">
            <a:avLst/>
          </a:prstGeom>
          <a:solidFill>
            <a:srgbClr val="143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" y="6327648"/>
            <a:ext cx="11640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0E0EF"/>
                </a:solidFill>
              </a:rPr>
              <a:t>IEEE 13-bus  ·  IEEE 34-bus  ·  IEEE 123-bus  ·  3 seeds  ·  500K steps/client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43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1521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B4D8"/>
                </a:solidFill>
              </a:rP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" y="65836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90E0EF"/>
                </a:solidFill>
              </a:rPr>
              <a:t>QE-SAC-FL — April 12,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24128"/>
            <a:ext cx="12188952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143000"/>
            <a:ext cx="2788920" cy="1965960"/>
          </a:xfrm>
          <a:prstGeom prst="rect">
            <a:avLst/>
          </a:prstGeom>
          <a:solidFill>
            <a:srgbClr val="1A2E44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143000"/>
            <a:ext cx="2788920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261872"/>
            <a:ext cx="2606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00B4D8"/>
                </a:solidFill>
              </a:rPr>
              <a:t>383×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920240"/>
            <a:ext cx="2606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Communication
Reduction vs
Classical SAC-FL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46120" y="1143000"/>
            <a:ext cx="2788920" cy="1965960"/>
          </a:xfrm>
          <a:prstGeom prst="rect">
            <a:avLst/>
          </a:prstGeom>
          <a:solidFill>
            <a:srgbClr val="1A2E44"/>
          </a:solidFill>
          <a:ln w="1524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46120" y="1143000"/>
            <a:ext cx="2788920" cy="64008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37560" y="1261872"/>
            <a:ext cx="2606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06D6A0"/>
                </a:solidFill>
              </a:rPr>
              <a:t>d = 1.16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37560" y="1920240"/>
            <a:ext cx="2606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Effect Size
(34-bus) vs
Naive FL  [LARGE]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143000"/>
            <a:ext cx="2788920" cy="1965960"/>
          </a:xfrm>
          <a:prstGeom prst="rect">
            <a:avLst/>
          </a:prstGeom>
          <a:solidFill>
            <a:srgbClr val="1A2E44"/>
          </a:solidFill>
          <a:ln w="15240"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1143000"/>
            <a:ext cx="2788920" cy="64008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59" y="1261872"/>
            <a:ext cx="2606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D166"/>
                </a:solidFill>
              </a:rPr>
              <a:t>d = 0.84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59" y="1920240"/>
            <a:ext cx="2606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Effect Size
(123-bus) vs
Naive FL  [LARGE]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89720" y="1143000"/>
            <a:ext cx="2788920" cy="1965960"/>
          </a:xfrm>
          <a:prstGeom prst="rect">
            <a:avLst/>
          </a:prstGeom>
          <a:solidFill>
            <a:srgbClr val="1A2E44"/>
          </a:solidFill>
          <a:ln w="15240">
            <a:solidFill>
              <a:srgbClr val="FF93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189720" y="1143000"/>
            <a:ext cx="2788920" cy="64008"/>
          </a:xfrm>
          <a:prstGeom prst="rect">
            <a:avLst/>
          </a:prstGeom>
          <a:solidFill>
            <a:srgbClr val="FF93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81160" y="1261872"/>
            <a:ext cx="2606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9330"/>
                </a:solidFill>
              </a:rPr>
              <a:t>288 params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81160" y="1920240"/>
            <a:ext cx="2606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Federated per
client per round
= 1,152 bytes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3291840"/>
            <a:ext cx="5486400" cy="2606040"/>
          </a:xfrm>
          <a:prstGeom prst="rect">
            <a:avLst/>
          </a:prstGeom>
          <a:solidFill>
            <a:srgbClr val="1A2E44"/>
          </a:solidFill>
          <a:ln w="1524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74320" y="3291840"/>
            <a:ext cx="137160" cy="260604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336499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6D6A0"/>
                </a:solidFill>
              </a:rPr>
              <a:t>What We Have Proved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3749039"/>
            <a:ext cx="512064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383× communication reduction vs classical SAC-FL
  → architectural result, no statistics needed
• Aligned FL outperforms naive FL on 34-bus (d=1.16)
  and 123-bus (d=0.84) — LARGE effect sizes both
• Naive FL causes VQC barren plateau collapse
  → gradient norms vanish by round 100
  → aligned FL prevents this entirely
• Hidden dim ablation confirms: 32 is optimal
  → same reward as 64/128 at 4× lower comm. cost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43600" y="3291840"/>
            <a:ext cx="5971032" cy="2606040"/>
          </a:xfrm>
          <a:prstGeom prst="rect">
            <a:avLst/>
          </a:prstGeom>
          <a:solidFill>
            <a:srgbClr val="1A2E44"/>
          </a:solidFill>
          <a:ln w="15240"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943600" y="3291840"/>
            <a:ext cx="137160" cy="2606040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17920" y="3364992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D166"/>
                </a:solidFill>
              </a:rPr>
              <a:t>What Is Still Running / Pending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0" y="3749039"/>
            <a:ext cx="557784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Seeds 3-4 FL experiment → n=5 (in progress)
  Goal: stronger p-values for B and C
• Personalized FL (H5) → in progress
  Goal: recover Client A performance
  after global alignment
• Statistical significance not yet reached:
  p=0.091 (34-bus), p=0.141 (123-bus)
  Need n≥7 seeds for Bonferroni α=0.0083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43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1521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B4D8"/>
                </a:solidFill>
              </a:rPr>
              <a:t>New Progress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" y="65836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90E0EF"/>
                </a:solidFill>
              </a:rPr>
              <a:t>Completed since last meeting — April 9 → April 12,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24128"/>
            <a:ext cx="12188952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170432"/>
            <a:ext cx="11640312" cy="1261872"/>
          </a:xfrm>
          <a:prstGeom prst="rect">
            <a:avLst/>
          </a:prstGeom>
          <a:solidFill>
            <a:srgbClr val="1A2E44"/>
          </a:solidFill>
          <a:ln w="1524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170432"/>
            <a:ext cx="137160" cy="1261872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8912" y="1243584"/>
            <a:ext cx="1463040" cy="292608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32" y="1271016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</a:rPr>
              <a:t>COMPLETED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57400" y="1225296"/>
            <a:ext cx="9692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D6A0"/>
                </a:solidFill>
              </a:rPr>
              <a:t>Seeds 0-2 FL (500K steps) — Full results available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57400" y="1609344"/>
            <a:ext cx="969264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local_only: A=-6.60±0.03  B=-7.81±0.46  C=-7.16±0.01
naive_fl:   A=-6.58±0.15  B=-8.19±0.69  C=-7.19±0.05
aligned_fl: A=-6.68±0.14  B=-7.69±0.60  C=-7.10±0.06
Key: Naive FL is WORSE than local-only on B and C — confirms QLSI damages training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523744"/>
            <a:ext cx="11640312" cy="1261872"/>
          </a:xfrm>
          <a:prstGeom prst="rect">
            <a:avLst/>
          </a:prstGeom>
          <a:solidFill>
            <a:srgbClr val="1A2E44"/>
          </a:solidFill>
          <a:ln w="1524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2523744"/>
            <a:ext cx="137160" cy="1261872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8912" y="2596896"/>
            <a:ext cx="1463040" cy="292608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4632" y="2624327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</a:rPr>
              <a:t>COMPLETED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57400" y="2578608"/>
            <a:ext cx="9692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D6A0"/>
                </a:solidFill>
              </a:rPr>
              <a:t>Barren Plateau Evidence — VQC gradient norm analysis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2962656"/>
            <a:ext cx="969264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Naive FL: VQC gradient norm collapses from ~10⁻¹ to ~10⁻³ by round 100 → barren plateau
Aligned FL: gradient norm stays at ~10⁻² throughout all 500 rounds → healthy learning
This is a mechanistic explanation: QLSI → contradictory gradients → plateau
Significance: elevates contribution from 'empirical trick' to 'principled quantum ML fix'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3877056"/>
            <a:ext cx="11640312" cy="1261872"/>
          </a:xfrm>
          <a:prstGeom prst="rect">
            <a:avLst/>
          </a:prstGeom>
          <a:solidFill>
            <a:srgbClr val="1A2E44"/>
          </a:solidFill>
          <a:ln w="1524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20" y="3877056"/>
            <a:ext cx="137160" cy="1261872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8912" y="3950208"/>
            <a:ext cx="1463040" cy="292608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4632" y="3977640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</a:rPr>
              <a:t>COMPLETED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3931920"/>
            <a:ext cx="9692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D6A0"/>
                </a:solidFill>
              </a:rPr>
              <a:t>Hidden Dim Ablation — H4 (hidden_dim ∈ {16, 32, 64, 128})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57400" y="4315968"/>
            <a:ext cx="969264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hidden_dim=32 is the optimal choice: same reward as 64/128 at 4× lower communication cost
hidden_dim=16 is too small — underfits the topology compression task
Ablation confirms design choice and provides Table/Figure for paper Section 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5230368"/>
            <a:ext cx="11640312" cy="1261872"/>
          </a:xfrm>
          <a:prstGeom prst="rect">
            <a:avLst/>
          </a:prstGeom>
          <a:solidFill>
            <a:srgbClr val="1A2E44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74320" y="5230368"/>
            <a:ext cx="137160" cy="12618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8912" y="5303520"/>
            <a:ext cx="1463040" cy="2926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4632" y="5330952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</a:rPr>
              <a:t>NEW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57400" y="5285231"/>
            <a:ext cx="9692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</a:rPr>
              <a:t>Full Technical Report generated (artifacts/QE_SAC_FL_Technical_Report.md)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057400" y="5669279"/>
            <a:ext cx="969264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Includes: architecture diagrams · data flow · all result tables · figure explanations
Barren plateau explanation added with mathematical justification Var[∇θ] ~ O(2^(-n))
6 weakness sections with specific solutions · hyperparameter table · file map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43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1521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B4D8"/>
                </a:solidFill>
              </a:rPr>
              <a:t>New Progress — Result Detail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" y="65836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90E0EF"/>
                </a:solidFill>
              </a:rPr>
              <a:t>Mean normalised episode reward · 3 seeds · 500K steps · Bonferroni α=0.0083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24128"/>
            <a:ext cx="12188952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170432"/>
            <a:ext cx="7406640" cy="384048"/>
          </a:xfrm>
          <a:prstGeom prst="rect">
            <a:avLst/>
          </a:prstGeom>
          <a:solidFill>
            <a:srgbClr val="143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216152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B4D8"/>
                </a:solidFill>
              </a:rPr>
              <a:t>Condition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51760" y="1216152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90E0EF"/>
                </a:solidFill>
              </a:rPr>
              <a:t>13-bus (A)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51960" y="1216152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D166"/>
                </a:solidFill>
              </a:rPr>
              <a:t>34-bus (B)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0" y="1216152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6D6A0"/>
                </a:solidFill>
              </a:rPr>
              <a:t>123-bus (C)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00200"/>
            <a:ext cx="7406640" cy="566928"/>
          </a:xfrm>
          <a:prstGeom prst="rect">
            <a:avLst/>
          </a:prstGeom>
          <a:solidFill>
            <a:srgbClr val="1A2E44"/>
          </a:solidFill>
          <a:ln w="1524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472" y="1709928"/>
            <a:ext cx="2240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AAAAAA"/>
                </a:solidFill>
              </a:rPr>
              <a:t>Local-only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51760" y="1709928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-6.60 ± 0.03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51960" y="1709928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-7.81 ± 0.46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52160" y="1709928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-7.16 ± 0.01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2221992"/>
            <a:ext cx="7406640" cy="566928"/>
          </a:xfrm>
          <a:prstGeom prst="rect">
            <a:avLst/>
          </a:prstGeom>
          <a:solidFill>
            <a:srgbClr val="2A1010"/>
          </a:solidFill>
          <a:ln w="15240">
            <a:solidFill>
              <a:srgbClr val="EF47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7472" y="2331720"/>
            <a:ext cx="2240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F476F"/>
                </a:solidFill>
              </a:rPr>
              <a:t>Naive FL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51760" y="2331720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-6.58 ± 0.15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51960" y="2331720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-8.19 ± 0.69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52160" y="2331720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-7.19 ± 0.05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2843784"/>
            <a:ext cx="7406640" cy="566928"/>
          </a:xfrm>
          <a:prstGeom prst="rect">
            <a:avLst/>
          </a:prstGeom>
          <a:solidFill>
            <a:srgbClr val="052515"/>
          </a:solidFill>
          <a:ln w="1524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7472" y="2953512"/>
            <a:ext cx="2240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D6A0"/>
                </a:solidFill>
              </a:rPr>
              <a:t>Aligned FL (Ours)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51760" y="2953512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−6.68 ± 0.14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51960" y="2953512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6D6A0"/>
                </a:solidFill>
              </a:rPr>
              <a:t>−7.69 ± 0.60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52160" y="2953512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6D6A0"/>
                </a:solidFill>
              </a:rPr>
              <a:t>−7.10 ± 0.06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863840" y="1170432"/>
            <a:ext cx="4050791" cy="3200400"/>
          </a:xfrm>
          <a:prstGeom prst="rect">
            <a:avLst/>
          </a:prstGeom>
          <a:solidFill>
            <a:srgbClr val="1A2E44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0" y="121615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</a:rPr>
              <a:t>Effect Sizes (Cohen's d)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909560" y="1645920"/>
            <a:ext cx="3886200" cy="804672"/>
          </a:xfrm>
          <a:prstGeom prst="rect">
            <a:avLst/>
          </a:prstGeom>
          <a:solidFill>
            <a:srgbClr val="102438"/>
          </a:solidFill>
          <a:ln w="15240">
            <a:solidFill>
              <a:srgbClr val="EF47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28431" y="169164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AA"/>
                </a:solidFill>
              </a:rPr>
              <a:t>A (13-bus)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35440" y="1673352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EF476F"/>
                </a:solidFill>
              </a:rPr>
              <a:t>d = −1.54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61320" y="1691640"/>
            <a:ext cx="1097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Aligned WORSE
(expected)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909560" y="2560320"/>
            <a:ext cx="3886200" cy="804672"/>
          </a:xfrm>
          <a:prstGeom prst="rect">
            <a:avLst/>
          </a:prstGeom>
          <a:solidFill>
            <a:srgbClr val="102438"/>
          </a:solidFill>
          <a:ln w="1524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28431" y="2606039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AA"/>
                </a:solidFill>
              </a:rPr>
              <a:t>B (34-bus)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35440" y="2587751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6D6A0"/>
                </a:solidFill>
              </a:rPr>
              <a:t>d = +1.16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61320" y="2606039"/>
            <a:ext cx="1097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LARGE effect
p = 0.091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909560" y="3474720"/>
            <a:ext cx="3886200" cy="804672"/>
          </a:xfrm>
          <a:prstGeom prst="rect">
            <a:avLst/>
          </a:prstGeom>
          <a:solidFill>
            <a:srgbClr val="102438"/>
          </a:solidFill>
          <a:ln w="1524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028431" y="3520439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AA"/>
                </a:solidFill>
              </a:rPr>
              <a:t>C (123-bus)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35440" y="3502151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6D6A0"/>
                </a:solidFill>
              </a:rPr>
              <a:t>d = +0.84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61320" y="3520439"/>
            <a:ext cx="1097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LARGE effect
p = 0.141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320" y="2944368"/>
            <a:ext cx="7406640" cy="1417320"/>
          </a:xfrm>
          <a:prstGeom prst="rect">
            <a:avLst/>
          </a:prstGeom>
          <a:solidFill>
            <a:srgbClr val="051828"/>
          </a:solidFill>
          <a:ln w="15240">
            <a:solidFill>
              <a:srgbClr val="FF93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7200" y="2999232"/>
            <a:ext cx="6949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9330"/>
                </a:solidFill>
              </a:rPr>
              <a:t>Barren Plateau Evidence (Figure 3)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3364992"/>
            <a:ext cx="6949440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Naive FL VQC gradient norm:    round 1 ≈ 10⁻¹  →  round 100+ ≈ 10⁻³  (COLLAPSE)
Aligned FL VQC gradient norm:  stable at 10⁻²  throughout all 500 rounds
Root cause: misaligned latent angles → contradictory gradients across clients
→ gradients cancel → VQC enters flat landscape → Var[∇θ] ~ O(2⁻ⁿ) barren plateau
Alignment fix removes contradiction → VQC gradient direction is consistent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74320" y="4480560"/>
            <a:ext cx="11640312" cy="457200"/>
          </a:xfrm>
          <a:prstGeom prst="rect">
            <a:avLst/>
          </a:prstGeom>
          <a:solidFill>
            <a:srgbClr val="051A30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57200" y="4544568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B4D8"/>
                </a:solidFill>
              </a:rPr>
              <a:t>Communication efficiency:  Classical SAC-FL = 430 KB/client/round  ·  Naive QE-SAC-FL = 30 KB  ·  Aligned QE-SAC-FL = 1.1 KB  →  383× reduction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74320" y="5074920"/>
            <a:ext cx="11640312" cy="1417320"/>
          </a:xfrm>
          <a:prstGeom prst="rect">
            <a:avLst/>
          </a:prstGeom>
          <a:solidFill>
            <a:srgbClr val="1A2E44"/>
          </a:solidFill>
          <a:ln w="15240"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57200" y="5138928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D166"/>
                </a:solidFill>
              </a:rPr>
              <a:t>Hidden Dim Ablation (H4) — Completed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" y="5504688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hidden_dim=16: underfits compression task — reward degrades on B and C
hidden_dim=32: OPTIMAL — best mean reward, federated params = 272 (SharedHead) + 16 (VQC) = 288
hidden_dim=64: marginal reward gain (+0.02) at 2× communication cost → not worth it
hidden_dim=128: no further gain, 4× cost → rejected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43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1521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B4D8"/>
                </a:solidFill>
              </a:rPr>
              <a:t>Ongoing Tasks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" y="65836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90E0EF"/>
                </a:solidFill>
              </a:rPr>
              <a:t>Currently running experiments — as of April 12,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24128"/>
            <a:ext cx="12188952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188720"/>
            <a:ext cx="11640312" cy="2825496"/>
          </a:xfrm>
          <a:prstGeom prst="rect">
            <a:avLst/>
          </a:prstGeom>
          <a:solidFill>
            <a:srgbClr val="1A2E44"/>
          </a:solidFill>
          <a:ln w="15240">
            <a:solidFill>
              <a:srgbClr val="FF93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188720"/>
            <a:ext cx="137160" cy="2825496"/>
          </a:xfrm>
          <a:prstGeom prst="rect">
            <a:avLst/>
          </a:prstGeom>
          <a:solidFill>
            <a:srgbClr val="FF93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8912" y="1261872"/>
            <a:ext cx="1463040" cy="292608"/>
          </a:xfrm>
          <a:prstGeom prst="rect">
            <a:avLst/>
          </a:prstGeom>
          <a:solidFill>
            <a:srgbClr val="FF93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32" y="1289304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</a:rPr>
              <a:t>RUNNING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57400" y="1243584"/>
            <a:ext cx="6858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9330"/>
                </a:solidFill>
              </a:rPr>
              <a:t>Seeds 3-4 FL Experiment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1261872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1">
                <a:solidFill>
                  <a:srgbClr val="AAAAAA"/>
                </a:solidFill>
              </a:rPr>
              <a:t>PID 2370827  →  logs/fl_seeds34.log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1645920"/>
            <a:ext cx="11338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Purpose: increase seed count from n=3 to n=5 for stronger statistical 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2048256"/>
            <a:ext cx="11338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Conditions: local_only + naive_fl + aligned_fl × seeds {3, 4} × 3 clients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2450592"/>
            <a:ext cx="11338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Expected output: seed3/4 JSON files in artifacts/qe_sac_fl/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" y="2852928"/>
            <a:ext cx="11338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On completion: re-run scripts/verify_results.py for updated p-values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" y="3255264"/>
            <a:ext cx="11338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Expected p(B) after n=5: ~0.04  ·  Expected p(C): ~0.07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" y="3657600"/>
            <a:ext cx="11338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Need n=10 for Bonferroni significance — seeds 5-9 may be needed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4197096"/>
            <a:ext cx="11640312" cy="2423160"/>
          </a:xfrm>
          <a:prstGeom prst="rect">
            <a:avLst/>
          </a:prstGeom>
          <a:solidFill>
            <a:srgbClr val="1A2E44"/>
          </a:solidFill>
          <a:ln w="15240">
            <a:solidFill>
              <a:srgbClr val="FF93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20" y="4197096"/>
            <a:ext cx="137160" cy="2423160"/>
          </a:xfrm>
          <a:prstGeom prst="rect">
            <a:avLst/>
          </a:prstGeom>
          <a:solidFill>
            <a:srgbClr val="FF93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8912" y="4270248"/>
            <a:ext cx="1463040" cy="292608"/>
          </a:xfrm>
          <a:prstGeom prst="rect">
            <a:avLst/>
          </a:prstGeom>
          <a:solidFill>
            <a:srgbClr val="FF93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4632" y="4297680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</a:rPr>
              <a:t>RUNNING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4251960"/>
            <a:ext cx="6858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9330"/>
                </a:solidFill>
              </a:rPr>
              <a:t>Personalized FL — H5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4270248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1">
                <a:solidFill>
                  <a:srgbClr val="AAAAAA"/>
                </a:solidFill>
              </a:rPr>
              <a:t>PID 2388299  →  logs/fl_personalized.log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0352" y="4654296"/>
            <a:ext cx="11338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Purpose: recover Client A performance after global alignment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" y="5056632"/>
            <a:ext cx="11338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Method: 500 global FL rounds → freeze SharedHead → 50K fine-tune per client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0352" y="5458968"/>
            <a:ext cx="11338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Expected: A recovers to ~-6.60 (local-only level) while B, C keep gains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" y="5861304"/>
            <a:ext cx="11338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Will address W2 (Client A degradation) from weakness analysis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0352" y="6263640"/>
            <a:ext cx="11338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Results will appear in artifacts/qe_sac_fl/seed*_personalized.json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6803136"/>
            <a:ext cx="11640312" cy="658368"/>
          </a:xfrm>
          <a:prstGeom prst="rect">
            <a:avLst/>
          </a:prstGeom>
          <a:solidFill>
            <a:srgbClr val="101A10"/>
          </a:solidFill>
          <a:ln w="1524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687628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D6A0"/>
                </a:solidFill>
              </a:rPr>
              <a:t>To check live progress: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46120" y="6894576"/>
            <a:ext cx="8412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90E0EF"/>
                </a:solidFill>
              </a:rPr>
              <a:t>tail -f logs/fl_seeds34.log      |      tail -f logs/fl_personalized.log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7187184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AAAAAA"/>
                </a:solidFill>
              </a:rPr>
              <a:t>python scripts/verify_results.py  (re-run after seeds 3-4 finish)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43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1521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B4D8"/>
                </a:solidFill>
              </a:rPr>
              <a:t>Planning &amp; Assignment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" y="65836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90E0EF"/>
                </a:solidFill>
              </a:rPr>
              <a:t>What needs to happen before paper submission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24128"/>
            <a:ext cx="12188952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170432"/>
            <a:ext cx="11640312" cy="347472"/>
          </a:xfrm>
          <a:prstGeom prst="rect">
            <a:avLst/>
          </a:prstGeom>
          <a:solidFill>
            <a:srgbClr val="143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20700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4D8"/>
                </a:solidFill>
              </a:rPr>
              <a:t>Task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51760" y="120700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90E0EF"/>
                </a:solidFill>
              </a:rPr>
              <a:t>Priority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1207008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Owner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20700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D166"/>
                </a:solidFill>
              </a:rPr>
              <a:t>Target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41080" y="120700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AAAAAA"/>
                </a:solidFill>
              </a:rPr>
              <a:t>Dependency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572768"/>
            <a:ext cx="11640312" cy="493776"/>
          </a:xfrm>
          <a:prstGeom prst="rect">
            <a:avLst/>
          </a:prstGeom>
          <a:solidFill>
            <a:srgbClr val="1A2E44"/>
          </a:solidFill>
          <a:ln w="15240">
            <a:solidFill>
              <a:srgbClr val="FF93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472" y="1664208"/>
            <a:ext cx="2240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Wait: seeds 3-4 finish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70048" y="1664208"/>
            <a:ext cx="1463040" cy="292608"/>
          </a:xfrm>
          <a:prstGeom prst="rect">
            <a:avLst/>
          </a:prstGeom>
          <a:solidFill>
            <a:srgbClr val="FF93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15768" y="1691640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</a:rPr>
              <a:t>CRITICAL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78808" y="1664208"/>
            <a:ext cx="2057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0E0EF"/>
                </a:solidFill>
              </a:rPr>
              <a:t>Server (auto)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1664208"/>
            <a:ext cx="2240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D166"/>
                </a:solidFill>
              </a:rPr>
              <a:t>Apr 13-14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59368" y="1664208"/>
            <a:ext cx="3154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AAAAAA"/>
                </a:solidFill>
              </a:rPr>
              <a:t>—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2121408"/>
            <a:ext cx="11640312" cy="493776"/>
          </a:xfrm>
          <a:prstGeom prst="rect">
            <a:avLst/>
          </a:prstGeom>
          <a:solidFill>
            <a:srgbClr val="2A1010"/>
          </a:solidFill>
          <a:ln w="15240">
            <a:solidFill>
              <a:srgbClr val="EF47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7472" y="2212848"/>
            <a:ext cx="2240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Re-run verify_results.py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670048" y="2212848"/>
            <a:ext cx="1463040" cy="292608"/>
          </a:xfrm>
          <a:prstGeom prst="rect">
            <a:avLst/>
          </a:prstGeom>
          <a:solidFill>
            <a:srgbClr val="EF4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15768" y="2240279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</a:rPr>
              <a:t>CRITICAL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78808" y="2212848"/>
            <a:ext cx="2057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0E0EF"/>
                </a:solidFill>
              </a:rPr>
              <a:t>You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27648" y="2212848"/>
            <a:ext cx="2240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D166"/>
                </a:solidFill>
              </a:rPr>
              <a:t>Apr 14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59368" y="2212848"/>
            <a:ext cx="3154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AAAAAA"/>
                </a:solidFill>
              </a:rPr>
              <a:t>Seeds 3-4 done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2670048"/>
            <a:ext cx="11640312" cy="493776"/>
          </a:xfrm>
          <a:prstGeom prst="rect">
            <a:avLst/>
          </a:prstGeom>
          <a:solidFill>
            <a:srgbClr val="1A2E44"/>
          </a:solidFill>
          <a:ln w="15240"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7472" y="2761488"/>
            <a:ext cx="2240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Personalized FL results check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670048" y="2761488"/>
            <a:ext cx="1463040" cy="292608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15768" y="2788920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</a:rPr>
              <a:t>HIGH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78808" y="2761488"/>
            <a:ext cx="2057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0E0EF"/>
                </a:solidFill>
              </a:rPr>
              <a:t>You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27648" y="2761488"/>
            <a:ext cx="2240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D166"/>
                </a:solidFill>
              </a:rPr>
              <a:t>Apr 15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59368" y="2761488"/>
            <a:ext cx="3154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AAAAAA"/>
                </a:solidFill>
              </a:rPr>
              <a:t>H5 job finishes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" y="3218687"/>
            <a:ext cx="11640312" cy="493776"/>
          </a:xfrm>
          <a:prstGeom prst="rect">
            <a:avLst/>
          </a:prstGeom>
          <a:solidFill>
            <a:srgbClr val="1A2E44"/>
          </a:solidFill>
          <a:ln w="15240"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47472" y="3310127"/>
            <a:ext cx="2240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Run seeds 5-9 if needed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670048" y="3310127"/>
            <a:ext cx="1463040" cy="292608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715768" y="3337559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</a:rPr>
              <a:t>HIGH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78808" y="3310127"/>
            <a:ext cx="2057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0E0EF"/>
                </a:solidFill>
              </a:rPr>
              <a:t>You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27648" y="3310127"/>
            <a:ext cx="2240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D166"/>
                </a:solidFill>
              </a:rPr>
              <a:t>Apr 16-18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59368" y="3310127"/>
            <a:ext cx="3154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AAAAAA"/>
                </a:solidFill>
              </a:rPr>
              <a:t>n=5 p-values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320" y="3767328"/>
            <a:ext cx="11640312" cy="493776"/>
          </a:xfrm>
          <a:prstGeom prst="rect">
            <a:avLst/>
          </a:prstGeom>
          <a:solidFill>
            <a:srgbClr val="052515"/>
          </a:solidFill>
          <a:ln w="1524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47472" y="3858768"/>
            <a:ext cx="2240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Write paper Section 4 (Method)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670048" y="3858768"/>
            <a:ext cx="1463040" cy="292608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715768" y="3886200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</a:rPr>
              <a:t>HIGH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178808" y="3858768"/>
            <a:ext cx="2057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0E0EF"/>
                </a:solidFill>
              </a:rPr>
              <a:t>You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27648" y="3858768"/>
            <a:ext cx="2240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D166"/>
                </a:solidFill>
              </a:rPr>
              <a:t>Apr 17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659368" y="3858768"/>
            <a:ext cx="3154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AAAAAA"/>
                </a:solidFill>
              </a:rPr>
              <a:t>Tech report done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74320" y="4315968"/>
            <a:ext cx="11640312" cy="493776"/>
          </a:xfrm>
          <a:prstGeom prst="rect">
            <a:avLst/>
          </a:prstGeom>
          <a:solidFill>
            <a:srgbClr val="052515"/>
          </a:solidFill>
          <a:ln w="1524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47472" y="4407407"/>
            <a:ext cx="2240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Write paper Section 5 (Results)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670048" y="4407407"/>
            <a:ext cx="1463040" cy="292608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715768" y="4434840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</a:rPr>
              <a:t>HIGH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178808" y="4407407"/>
            <a:ext cx="2057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0E0EF"/>
                </a:solidFill>
              </a:rPr>
              <a:t>You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327648" y="4407407"/>
            <a:ext cx="2240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D166"/>
                </a:solidFill>
              </a:rPr>
              <a:t>Apr 20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659368" y="4407407"/>
            <a:ext cx="3154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AAAAAA"/>
                </a:solidFill>
              </a:rPr>
              <a:t>n=5 results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74320" y="4864607"/>
            <a:ext cx="11640312" cy="493776"/>
          </a:xfrm>
          <a:prstGeom prst="rect">
            <a:avLst/>
          </a:prstGeom>
          <a:solidFill>
            <a:srgbClr val="1A2E44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47472" y="4956047"/>
            <a:ext cx="2240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Add centralised baseline (opt.)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670048" y="4956047"/>
            <a:ext cx="1463040" cy="2926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715768" y="4983479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</a:rPr>
              <a:t>MEDIUM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178808" y="4956047"/>
            <a:ext cx="2057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0E0EF"/>
                </a:solidFill>
              </a:rPr>
              <a:t>You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327648" y="4956047"/>
            <a:ext cx="2240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D166"/>
                </a:solidFill>
              </a:rPr>
              <a:t>Apr 20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659368" y="4956047"/>
            <a:ext cx="3154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AAAAAA"/>
                </a:solidFill>
              </a:rPr>
              <a:t>1 GPU × 1 seed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74320" y="5413248"/>
            <a:ext cx="11640312" cy="493776"/>
          </a:xfrm>
          <a:prstGeom prst="rect">
            <a:avLst/>
          </a:prstGeom>
          <a:solidFill>
            <a:srgbClr val="1A2E44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47472" y="5504688"/>
            <a:ext cx="2240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Internal draft → advisor review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670048" y="5504688"/>
            <a:ext cx="1463040" cy="2926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715768" y="5532120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</a:rPr>
              <a:t>MEDIUM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178808" y="5504688"/>
            <a:ext cx="2057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0E0EF"/>
                </a:solidFill>
              </a:rPr>
              <a:t>You → Advisor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327648" y="5504688"/>
            <a:ext cx="2240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D166"/>
                </a:solidFill>
              </a:rPr>
              <a:t>Apr 22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659368" y="5504688"/>
            <a:ext cx="3154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AAAAAA"/>
                </a:solidFill>
              </a:rPr>
              <a:t>Sections 4-5 done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74320" y="5961888"/>
            <a:ext cx="11640312" cy="493776"/>
          </a:xfrm>
          <a:prstGeom prst="rect">
            <a:avLst/>
          </a:prstGeom>
          <a:solidFill>
            <a:srgbClr val="052515"/>
          </a:solidFill>
          <a:ln w="1524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347472" y="6053327"/>
            <a:ext cx="2240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Submit to IEEE Trans. Smart Grid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670048" y="6053327"/>
            <a:ext cx="1463040" cy="292608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2715768" y="6080759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</a:rPr>
              <a:t>GOAL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178808" y="6053327"/>
            <a:ext cx="2057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0E0EF"/>
                </a:solidFill>
              </a:rPr>
              <a:t>You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327648" y="6053327"/>
            <a:ext cx="2240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D166"/>
                </a:solidFill>
              </a:rPr>
              <a:t>May 2026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659368" y="6053327"/>
            <a:ext cx="3154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AAAAAA"/>
                </a:solidFill>
              </a:rPr>
              <a:t>All experiments done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43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1521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B4D8"/>
                </a:solidFill>
              </a:rPr>
              <a:t>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" y="65836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90E0EF"/>
                </a:solidFill>
              </a:rPr>
              <a:t>Open questions · design decisions · reviewer concerns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24128"/>
            <a:ext cx="12188952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170432"/>
            <a:ext cx="11640312" cy="1298448"/>
          </a:xfrm>
          <a:prstGeom prst="rect">
            <a:avLst/>
          </a:prstGeom>
          <a:solidFill>
            <a:srgbClr val="1A2E44"/>
          </a:solidFill>
          <a:ln w="15240"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170432"/>
            <a:ext cx="137160" cy="1298448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23444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D166"/>
                </a:solidFill>
              </a:rPr>
              <a:t>Statistical Significance — How to Frame This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609344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Current state: d=1.16 (B), d=0.84 (C) — large effects — but p=0.091, 0.141 with n=3
Question: Is it better to wait for n=10 (fully significant) or submit now with honest framing?
Recommendation: Submit with n=5 once seeds 3-4 finish. Lead with effect sizes + bootstrap CIs.
Precedent: In quantum ML papers, n=3-5 is common due to compute cost. Be transparent.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560320"/>
            <a:ext cx="11640312" cy="1298448"/>
          </a:xfrm>
          <a:prstGeom prst="rect">
            <a:avLst/>
          </a:prstGeom>
          <a:solidFill>
            <a:srgbClr val="1A2E44"/>
          </a:solidFill>
          <a:ln w="15240">
            <a:solidFill>
              <a:srgbClr val="EF47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2560320"/>
            <a:ext cx="137160" cy="1298448"/>
          </a:xfrm>
          <a:prstGeom prst="rect">
            <a:avLst/>
          </a:prstGeom>
          <a:solidFill>
            <a:srgbClr val="EF4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624327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F476F"/>
                </a:solidFill>
              </a:rPr>
              <a:t>Client A Degradation — Weakness or Feature?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999232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Client A (13-bus, simplest) performs slightly worse under aligned FL (d=−1.54)
Interpretation A (weakness): alignment constrains A's encoder → reviewer may penalise
Interpretation B (feature): asymmetric knowledge transfer is expected and physically meaningful
Mitigation: Personalized FL (H5) expected to recover A → show before/after in paper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950208"/>
            <a:ext cx="11640312" cy="1298448"/>
          </a:xfrm>
          <a:prstGeom prst="rect">
            <a:avLst/>
          </a:prstGeom>
          <a:solidFill>
            <a:srgbClr val="1A2E44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" y="3950208"/>
            <a:ext cx="137160" cy="129844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4014216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</a:rPr>
              <a:t>Barren Plateau Claim — How Strong Is the Evidence?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3891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We observe gradient norm collapse in naive FL. This is consistent with barren plateau theory.
Caveat: we have not proven mathematically that QLSI causes exponential gradient vanishing.
Safe framing: 'consistent with barren plateau behaviour' — not 'proves barren plateau'
Strengthening: cite McClean et al. (2018) + Cerezo et al. (2021) barren plateau reviews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5340096"/>
            <a:ext cx="11640312" cy="1298448"/>
          </a:xfrm>
          <a:prstGeom prst="rect">
            <a:avLst/>
          </a:prstGeom>
          <a:solidFill>
            <a:srgbClr val="1A2E44"/>
          </a:solidFill>
          <a:ln w="1524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20" y="5340096"/>
            <a:ext cx="137160" cy="1298448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5404104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D6A0"/>
                </a:solidFill>
              </a:rPr>
              <a:t>What Additional Experiment Would Most Strengthen the Paper?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779008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Option 1: More seeds (n=10) → statistical significance at Bonferroni α=0.0083
Option 2: Centralised baseline → shows FL approaches oracle performance
Option 3: Noise robustness test → add depolarising noise to VQC → does alignment help?
Best ROI: Option 1 (more seeds) — minimal code change, strongest impact on reviewer concern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43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1521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B4D8"/>
                </a:solidFill>
              </a:rPr>
              <a:t>Next Actions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" y="65836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90E0EF"/>
                </a:solidFill>
              </a:rPr>
              <a:t>Prioritised — what to do immediately after this meeting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24128"/>
            <a:ext cx="12188952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170432"/>
            <a:ext cx="11640312" cy="347472"/>
          </a:xfrm>
          <a:prstGeom prst="rect">
            <a:avLst/>
          </a:prstGeom>
          <a:solidFill>
            <a:srgbClr val="143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20700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D166"/>
                </a:solidFill>
              </a:rPr>
              <a:t>THIS WEEK (April 12-18)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572768"/>
            <a:ext cx="11640312" cy="694944"/>
          </a:xfrm>
          <a:prstGeom prst="rect">
            <a:avLst/>
          </a:prstGeom>
          <a:solidFill>
            <a:srgbClr val="1A2E44"/>
          </a:solidFill>
          <a:ln w="15240">
            <a:solidFill>
              <a:srgbClr val="EF47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572768"/>
            <a:ext cx="457200" cy="694944"/>
          </a:xfrm>
          <a:prstGeom prst="rect">
            <a:avLst/>
          </a:prstGeom>
          <a:solidFill>
            <a:srgbClr val="EF4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1719072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D1B2A"/>
                </a:solidFill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1627632"/>
            <a:ext cx="6858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F476F"/>
                </a:solidFill>
              </a:rPr>
              <a:t>Check seeds 3-4 log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1956816"/>
            <a:ext cx="8046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tail -f logs/fl_seeds34.log  — confirm training is healthy, no crashes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1773936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D166"/>
                </a:solidFill>
              </a:rPr>
              <a:t>Today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2322576"/>
            <a:ext cx="11640312" cy="694944"/>
          </a:xfrm>
          <a:prstGeom prst="rect">
            <a:avLst/>
          </a:prstGeom>
          <a:solidFill>
            <a:srgbClr val="1A2E44"/>
          </a:solidFill>
          <a:ln w="15240">
            <a:solidFill>
              <a:srgbClr val="EF47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" y="2322576"/>
            <a:ext cx="457200" cy="694944"/>
          </a:xfrm>
          <a:prstGeom prst="rect">
            <a:avLst/>
          </a:prstGeom>
          <a:solidFill>
            <a:srgbClr val="EF4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" y="2468880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D1B2A"/>
                </a:solidFill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" y="2377440"/>
            <a:ext cx="6858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F476F"/>
                </a:solidFill>
              </a:rPr>
              <a:t>Check H5 personalized log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" y="2706624"/>
            <a:ext cx="8046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tail -f logs/fl_personalized.log  — confirm Client A is recovering reward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0" y="2523744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D166"/>
                </a:solidFill>
              </a:rPr>
              <a:t>Today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3072384"/>
            <a:ext cx="11640312" cy="694944"/>
          </a:xfrm>
          <a:prstGeom prst="rect">
            <a:avLst/>
          </a:prstGeom>
          <a:solidFill>
            <a:srgbClr val="1A2E44"/>
          </a:solidFill>
          <a:ln w="15240">
            <a:solidFill>
              <a:srgbClr val="FF93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4320" y="3072384"/>
            <a:ext cx="457200" cy="694944"/>
          </a:xfrm>
          <a:prstGeom prst="rect">
            <a:avLst/>
          </a:prstGeom>
          <a:solidFill>
            <a:srgbClr val="FF93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4320" y="3218688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D1B2A"/>
                </a:solidFill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" y="3127248"/>
            <a:ext cx="6858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9330"/>
                </a:solidFill>
              </a:rPr>
              <a:t>Re-run verify_results.py when seeds 3-4 finish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" y="3456432"/>
            <a:ext cx="8046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python scripts/verify_results.py  — get updated p-values for n=5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0" y="327355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D166"/>
                </a:solidFill>
              </a:rPr>
              <a:t>Apr 13-14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3822191"/>
            <a:ext cx="11640312" cy="694944"/>
          </a:xfrm>
          <a:prstGeom prst="rect">
            <a:avLst/>
          </a:prstGeom>
          <a:solidFill>
            <a:srgbClr val="1A2E44"/>
          </a:solidFill>
          <a:ln w="15240">
            <a:solidFill>
              <a:srgbClr val="FF93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74320" y="3822191"/>
            <a:ext cx="457200" cy="694944"/>
          </a:xfrm>
          <a:prstGeom prst="rect">
            <a:avLst/>
          </a:prstGeom>
          <a:solidFill>
            <a:srgbClr val="FF93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4320" y="3968496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D1B2A"/>
                </a:solidFill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" y="3877055"/>
            <a:ext cx="6858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9330"/>
                </a:solidFill>
              </a:rPr>
              <a:t>Decide: run seeds 5-9?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" y="4206240"/>
            <a:ext cx="8046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If n=5 p(B) &gt; 0.05 → run 5 more seeds. If p(B) &lt; 0.05 → proceed to writing.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0" y="4023359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D166"/>
                </a:solidFill>
              </a:rPr>
              <a:t>Apr 14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572000"/>
            <a:ext cx="11640312" cy="694944"/>
          </a:xfrm>
          <a:prstGeom prst="rect">
            <a:avLst/>
          </a:prstGeom>
          <a:solidFill>
            <a:srgbClr val="1A2E44"/>
          </a:solidFill>
          <a:ln w="1524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74320" y="4572000"/>
            <a:ext cx="457200" cy="694944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4320" y="4718304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D1B2A"/>
                </a:solidFill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8" y="4626864"/>
            <a:ext cx="6858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D6A0"/>
                </a:solidFill>
              </a:rPr>
              <a:t>Write paper Section 4 — Proposed Method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1248" y="4956048"/>
            <a:ext cx="8046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Use technical report Section 2 (architecture) + Section 7 (justification) as draft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0" y="477316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D166"/>
                </a:solidFill>
              </a:rPr>
              <a:t>Apr 15-17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4320" y="5321807"/>
            <a:ext cx="11640312" cy="694944"/>
          </a:xfrm>
          <a:prstGeom prst="rect">
            <a:avLst/>
          </a:prstGeom>
          <a:solidFill>
            <a:srgbClr val="1A2E44"/>
          </a:solidFill>
          <a:ln w="1524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74320" y="5321807"/>
            <a:ext cx="457200" cy="694944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74320" y="5468112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D1B2A"/>
                </a:solidFill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1248" y="5376671"/>
            <a:ext cx="6858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D6A0"/>
                </a:solidFill>
              </a:rPr>
              <a:t>Write paper Section 5 — Experiments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1248" y="5705855"/>
            <a:ext cx="8046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Use technical report Section 5 (results + all 4 figures) as draft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515600" y="5522975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D166"/>
                </a:solidFill>
              </a:rPr>
              <a:t>Apr 17-20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74320" y="6053328"/>
            <a:ext cx="11640312" cy="594360"/>
          </a:xfrm>
          <a:prstGeom prst="rect">
            <a:avLst/>
          </a:prstGeom>
          <a:solidFill>
            <a:srgbClr val="052515"/>
          </a:solidFill>
          <a:ln w="1524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57200" y="6126480"/>
            <a:ext cx="11247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6D6A0"/>
                </a:solidFill>
              </a:rPr>
              <a:t>GOAL:  Complete paper draft by April 22  →  Advisor review  →  Submit IEEE Trans. Smart Grid — May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